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11"/>
  </p:notesMasterIdLst>
  <p:sldIdLst>
    <p:sldId id="256" r:id="rId2"/>
    <p:sldId id="293" r:id="rId3"/>
    <p:sldId id="296" r:id="rId4"/>
    <p:sldId id="298" r:id="rId5"/>
    <p:sldId id="299" r:id="rId6"/>
    <p:sldId id="303" r:id="rId7"/>
    <p:sldId id="295" r:id="rId8"/>
    <p:sldId id="312" r:id="rId9"/>
    <p:sldId id="31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7406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3DD0F88-8A1D-469E-9A4D-0D864E33DB38}" v="2" dt="2025-03-08T13:33:29.08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83" autoAdjust="0"/>
    <p:restoredTop sz="93447" autoAdjust="0"/>
  </p:normalViewPr>
  <p:slideViewPr>
    <p:cSldViewPr snapToGrid="0">
      <p:cViewPr varScale="1">
        <p:scale>
          <a:sx n="59" d="100"/>
          <a:sy n="59" d="100"/>
        </p:scale>
        <p:origin x="772" y="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ikat Baul" userId="dae859d7-ea3e-4a5d-83a1-d953f3940120" providerId="ADAL" clId="{E3DD0F88-8A1D-469E-9A4D-0D864E33DB38}"/>
    <pc:docChg chg="undo redo custSel modSld">
      <pc:chgData name="Saikat Baul" userId="dae859d7-ea3e-4a5d-83a1-d953f3940120" providerId="ADAL" clId="{E3DD0F88-8A1D-469E-9A4D-0D864E33DB38}" dt="2025-03-10T03:43:41.651" v="181" actId="207"/>
      <pc:docMkLst>
        <pc:docMk/>
      </pc:docMkLst>
      <pc:sldChg chg="modSp mod">
        <pc:chgData name="Saikat Baul" userId="dae859d7-ea3e-4a5d-83a1-d953f3940120" providerId="ADAL" clId="{E3DD0F88-8A1D-469E-9A4D-0D864E33DB38}" dt="2025-03-01T08:39:47.323" v="23" actId="1076"/>
        <pc:sldMkLst>
          <pc:docMk/>
          <pc:sldMk cId="2664565021" sldId="256"/>
        </pc:sldMkLst>
        <pc:spChg chg="mod">
          <ac:chgData name="Saikat Baul" userId="dae859d7-ea3e-4a5d-83a1-d953f3940120" providerId="ADAL" clId="{E3DD0F88-8A1D-469E-9A4D-0D864E33DB38}" dt="2025-03-01T08:39:47.323" v="23" actId="1076"/>
          <ac:spMkLst>
            <pc:docMk/>
            <pc:sldMk cId="2664565021" sldId="256"/>
            <ac:spMk id="24" creationId="{C2082529-78D7-4EA7-BFF9-A1D1F62040C8}"/>
          </ac:spMkLst>
        </pc:spChg>
      </pc:sldChg>
      <pc:sldChg chg="modSp mod">
        <pc:chgData name="Saikat Baul" userId="dae859d7-ea3e-4a5d-83a1-d953f3940120" providerId="ADAL" clId="{E3DD0F88-8A1D-469E-9A4D-0D864E33DB38}" dt="2025-03-03T14:06:46.512" v="28" actId="14100"/>
        <pc:sldMkLst>
          <pc:docMk/>
          <pc:sldMk cId="3411684674" sldId="293"/>
        </pc:sldMkLst>
        <pc:spChg chg="mod">
          <ac:chgData name="Saikat Baul" userId="dae859d7-ea3e-4a5d-83a1-d953f3940120" providerId="ADAL" clId="{E3DD0F88-8A1D-469E-9A4D-0D864E33DB38}" dt="2025-03-03T14:06:46.512" v="28" actId="14100"/>
          <ac:spMkLst>
            <pc:docMk/>
            <pc:sldMk cId="3411684674" sldId="293"/>
            <ac:spMk id="3" creationId="{00000000-0000-0000-0000-000000000000}"/>
          </ac:spMkLst>
        </pc:spChg>
      </pc:sldChg>
      <pc:sldChg chg="modSp mod">
        <pc:chgData name="Saikat Baul" userId="dae859d7-ea3e-4a5d-83a1-d953f3940120" providerId="ADAL" clId="{E3DD0F88-8A1D-469E-9A4D-0D864E33DB38}" dt="2025-03-03T16:54:26.759" v="33" actId="14100"/>
        <pc:sldMkLst>
          <pc:docMk/>
          <pc:sldMk cId="3925133192" sldId="298"/>
        </pc:sldMkLst>
        <pc:spChg chg="mod">
          <ac:chgData name="Saikat Baul" userId="dae859d7-ea3e-4a5d-83a1-d953f3940120" providerId="ADAL" clId="{E3DD0F88-8A1D-469E-9A4D-0D864E33DB38}" dt="2025-03-03T16:54:26.759" v="33" actId="14100"/>
          <ac:spMkLst>
            <pc:docMk/>
            <pc:sldMk cId="3925133192" sldId="298"/>
            <ac:spMk id="3" creationId="{00000000-0000-0000-0000-000000000000}"/>
          </ac:spMkLst>
        </pc:spChg>
        <pc:picChg chg="mod">
          <ac:chgData name="Saikat Baul" userId="dae859d7-ea3e-4a5d-83a1-d953f3940120" providerId="ADAL" clId="{E3DD0F88-8A1D-469E-9A4D-0D864E33DB38}" dt="2025-03-03T16:54:17.100" v="32" actId="1076"/>
          <ac:picMkLst>
            <pc:docMk/>
            <pc:sldMk cId="3925133192" sldId="298"/>
            <ac:picMk id="6" creationId="{00000000-0000-0000-0000-000000000000}"/>
          </ac:picMkLst>
        </pc:picChg>
      </pc:sldChg>
      <pc:sldChg chg="addSp delSp modSp mod modNotesTx">
        <pc:chgData name="Saikat Baul" userId="dae859d7-ea3e-4a5d-83a1-d953f3940120" providerId="ADAL" clId="{E3DD0F88-8A1D-469E-9A4D-0D864E33DB38}" dt="2025-03-08T13:56:35.636" v="145" actId="20577"/>
        <pc:sldMkLst>
          <pc:docMk/>
          <pc:sldMk cId="1632695831" sldId="300"/>
        </pc:sldMkLst>
        <pc:spChg chg="add del mod">
          <ac:chgData name="Saikat Baul" userId="dae859d7-ea3e-4a5d-83a1-d953f3940120" providerId="ADAL" clId="{E3DD0F88-8A1D-469E-9A4D-0D864E33DB38}" dt="2025-03-08T13:34:06.347" v="100" actId="208"/>
          <ac:spMkLst>
            <pc:docMk/>
            <pc:sldMk cId="1632695831" sldId="300"/>
            <ac:spMk id="3" creationId="{00000000-0000-0000-0000-000000000000}"/>
          </ac:spMkLst>
        </pc:spChg>
        <pc:spChg chg="add mod">
          <ac:chgData name="Saikat Baul" userId="dae859d7-ea3e-4a5d-83a1-d953f3940120" providerId="ADAL" clId="{E3DD0F88-8A1D-469E-9A4D-0D864E33DB38}" dt="2025-03-08T13:34:30.433" v="133" actId="20577"/>
          <ac:spMkLst>
            <pc:docMk/>
            <pc:sldMk cId="1632695831" sldId="300"/>
            <ac:spMk id="7" creationId="{FF9B66A1-42A4-B4A2-FF41-E6481BE1F974}"/>
          </ac:spMkLst>
        </pc:spChg>
        <pc:picChg chg="mod">
          <ac:chgData name="Saikat Baul" userId="dae859d7-ea3e-4a5d-83a1-d953f3940120" providerId="ADAL" clId="{E3DD0F88-8A1D-469E-9A4D-0D864E33DB38}" dt="2025-03-08T13:33:29.087" v="94" actId="1076"/>
          <ac:picMkLst>
            <pc:docMk/>
            <pc:sldMk cId="1632695831" sldId="300"/>
            <ac:picMk id="1026" creationId="{00000000-0000-0000-0000-000000000000}"/>
          </ac:picMkLst>
        </pc:picChg>
      </pc:sldChg>
      <pc:sldChg chg="modSp mod">
        <pc:chgData name="Saikat Baul" userId="dae859d7-ea3e-4a5d-83a1-d953f3940120" providerId="ADAL" clId="{E3DD0F88-8A1D-469E-9A4D-0D864E33DB38}" dt="2025-03-08T14:01:51.404" v="180" actId="20577"/>
        <pc:sldMkLst>
          <pc:docMk/>
          <pc:sldMk cId="2476521425" sldId="304"/>
        </pc:sldMkLst>
        <pc:spChg chg="mod">
          <ac:chgData name="Saikat Baul" userId="dae859d7-ea3e-4a5d-83a1-d953f3940120" providerId="ADAL" clId="{E3DD0F88-8A1D-469E-9A4D-0D864E33DB38}" dt="2025-03-08T14:01:51.404" v="180" actId="20577"/>
          <ac:spMkLst>
            <pc:docMk/>
            <pc:sldMk cId="2476521425" sldId="304"/>
            <ac:spMk id="3" creationId="{00000000-0000-0000-0000-000000000000}"/>
          </ac:spMkLst>
        </pc:spChg>
      </pc:sldChg>
      <pc:sldChg chg="modSp mod">
        <pc:chgData name="Saikat Baul" userId="dae859d7-ea3e-4a5d-83a1-d953f3940120" providerId="ADAL" clId="{E3DD0F88-8A1D-469E-9A4D-0D864E33DB38}" dt="2025-03-10T03:43:41.651" v="181" actId="207"/>
        <pc:sldMkLst>
          <pc:docMk/>
          <pc:sldMk cId="300910314" sldId="307"/>
        </pc:sldMkLst>
        <pc:spChg chg="mod">
          <ac:chgData name="Saikat Baul" userId="dae859d7-ea3e-4a5d-83a1-d953f3940120" providerId="ADAL" clId="{E3DD0F88-8A1D-469E-9A4D-0D864E33DB38}" dt="2025-03-10T03:43:41.651" v="181" actId="207"/>
          <ac:spMkLst>
            <pc:docMk/>
            <pc:sldMk cId="300910314" sldId="307"/>
            <ac:spMk id="16" creationId="{00000000-0000-0000-0000-000000000000}"/>
          </ac:spMkLst>
        </pc:spChg>
        <pc:spChg chg="mod">
          <ac:chgData name="Saikat Baul" userId="dae859d7-ea3e-4a5d-83a1-d953f3940120" providerId="ADAL" clId="{E3DD0F88-8A1D-469E-9A4D-0D864E33DB38}" dt="2025-03-10T03:43:41.651" v="181" actId="207"/>
          <ac:spMkLst>
            <pc:docMk/>
            <pc:sldMk cId="300910314" sldId="307"/>
            <ac:spMk id="17" creationId="{00000000-0000-0000-0000-000000000000}"/>
          </ac:spMkLst>
        </pc:spChg>
        <pc:spChg chg="mod">
          <ac:chgData name="Saikat Baul" userId="dae859d7-ea3e-4a5d-83a1-d953f3940120" providerId="ADAL" clId="{E3DD0F88-8A1D-469E-9A4D-0D864E33DB38}" dt="2025-03-10T03:43:41.651" v="181" actId="207"/>
          <ac:spMkLst>
            <pc:docMk/>
            <pc:sldMk cId="300910314" sldId="307"/>
            <ac:spMk id="18" creationId="{00000000-0000-0000-0000-000000000000}"/>
          </ac:spMkLst>
        </pc:spChg>
        <pc:spChg chg="mod">
          <ac:chgData name="Saikat Baul" userId="dae859d7-ea3e-4a5d-83a1-d953f3940120" providerId="ADAL" clId="{E3DD0F88-8A1D-469E-9A4D-0D864E33DB38}" dt="2025-03-10T03:43:41.651" v="181" actId="207"/>
          <ac:spMkLst>
            <pc:docMk/>
            <pc:sldMk cId="300910314" sldId="307"/>
            <ac:spMk id="19" creationId="{00000000-0000-0000-0000-000000000000}"/>
          </ac:spMkLst>
        </pc:spChg>
        <pc:spChg chg="mod">
          <ac:chgData name="Saikat Baul" userId="dae859d7-ea3e-4a5d-83a1-d953f3940120" providerId="ADAL" clId="{E3DD0F88-8A1D-469E-9A4D-0D864E33DB38}" dt="2025-03-10T03:43:41.651" v="181" actId="207"/>
          <ac:spMkLst>
            <pc:docMk/>
            <pc:sldMk cId="300910314" sldId="307"/>
            <ac:spMk id="20" creationId="{00000000-0000-0000-0000-000000000000}"/>
          </ac:spMkLst>
        </pc:spChg>
        <pc:spChg chg="mod">
          <ac:chgData name="Saikat Baul" userId="dae859d7-ea3e-4a5d-83a1-d953f3940120" providerId="ADAL" clId="{E3DD0F88-8A1D-469E-9A4D-0D864E33DB38}" dt="2025-03-10T03:43:41.651" v="181" actId="207"/>
          <ac:spMkLst>
            <pc:docMk/>
            <pc:sldMk cId="300910314" sldId="307"/>
            <ac:spMk id="26" creationId="{00000000-0000-0000-0000-000000000000}"/>
          </ac:spMkLst>
        </pc:spChg>
      </pc:sldChg>
    </pc:docChg>
  </pc:docChgLst>
  <pc:docChgLst>
    <pc:chgData name="Farzana Bente Alam" userId="3f74bd13-d3c2-4c92-803f-cee23a0d21b8" providerId="ADAL" clId="{27AC36B6-6117-403C-9CA1-F33B43EB0339}"/>
    <pc:docChg chg="modSld">
      <pc:chgData name="Farzana Bente Alam" userId="3f74bd13-d3c2-4c92-803f-cee23a0d21b8" providerId="ADAL" clId="{27AC36B6-6117-403C-9CA1-F33B43EB0339}" dt="2024-11-03T06:15:54.186" v="0" actId="1036"/>
      <pc:docMkLst>
        <pc:docMk/>
      </pc:docMkLst>
      <pc:sldChg chg="modSp mod">
        <pc:chgData name="Farzana Bente Alam" userId="3f74bd13-d3c2-4c92-803f-cee23a0d21b8" providerId="ADAL" clId="{27AC36B6-6117-403C-9CA1-F33B43EB0339}" dt="2024-11-03T06:15:54.186" v="0" actId="1036"/>
        <pc:sldMkLst>
          <pc:docMk/>
          <pc:sldMk cId="1632695831" sldId="30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210FD6-79C5-4041-8E7A-89350618D070}" type="datetimeFigureOut">
              <a:rPr lang="en-GB" smtClean="0"/>
              <a:pPr/>
              <a:t>18/06/2026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26CA59-B645-4A00-A667-3A942CDB8E2D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58052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26CA59-B645-4A00-A667-3A942CDB8E2D}" type="slidenum">
              <a:rPr lang="en-GB" smtClean="0"/>
              <a:pPr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45053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26CA59-B645-4A00-A667-3A942CDB8E2D}" type="slidenum">
              <a:rPr lang="en-GB" smtClean="0"/>
              <a:pPr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77324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26CA59-B645-4A00-A667-3A942CDB8E2D}" type="slidenum">
              <a:rPr lang="en-GB" smtClean="0"/>
              <a:pPr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99371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26CA59-B645-4A00-A667-3A942CDB8E2D}" type="slidenum">
              <a:rPr lang="en-GB" smtClean="0"/>
              <a:pPr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722041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26CA59-B645-4A00-A667-3A942CDB8E2D}" type="slidenum">
              <a:rPr lang="en-GB" smtClean="0"/>
              <a:pPr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05791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4FFDFDB9-D628-4A18-8BA7-33EF406917E6}" type="datetime1">
              <a:rPr lang="en-US" smtClean="0"/>
              <a:pPr/>
              <a:t>6/18/2026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DDB41-4229-47AF-BA03-C191A66FB94C}" type="datetime1">
              <a:rPr lang="en-US" smtClean="0"/>
              <a:pPr/>
              <a:t>6/18/2026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C08422A-3B8F-4FAB-94E1-75E89E1391CC}" type="datetime1">
              <a:rPr lang="en-US" smtClean="0"/>
              <a:pPr/>
              <a:t>6/18/2026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392D4-64E7-470C-9229-F729BA72710A}" type="datetime1">
              <a:rPr lang="en-US" smtClean="0"/>
              <a:pPr/>
              <a:t>6/18/2026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CD79C-F41C-4E95-A4BE-2712B8C4A412}" type="datetime1">
              <a:rPr lang="en-US" smtClean="0"/>
              <a:pPr/>
              <a:t>6/18/2026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AE8F3-6A5D-412D-87FA-D951F64E80C1}" type="datetime1">
              <a:rPr lang="en-US" smtClean="0"/>
              <a:pPr/>
              <a:t>6/18/2026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F486A-D265-402A-B6CD-5D626FC3EDC7}" type="datetime1">
              <a:rPr lang="en-US" smtClean="0"/>
              <a:pPr/>
              <a:t>6/18/2026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7416B92-2D29-4309-8FD4-8EC023BBFD61}" type="datetime1">
              <a:rPr lang="en-US" smtClean="0"/>
              <a:pPr/>
              <a:t>6/18/2026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84BAD-8657-4978-A2B2-B1BBE7089EFE}" type="datetime1">
              <a:rPr lang="en-US" smtClean="0"/>
              <a:pPr/>
              <a:t>6/18/2026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11AF3-EEF6-43B0-9CB4-662539EFD2B2}" type="datetime1">
              <a:rPr lang="en-US" smtClean="0"/>
              <a:pPr/>
              <a:t>6/18/2026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071272FE-5A2D-492A-8166-5DAA8B18B7EA}" type="datetime1">
              <a:rPr lang="en-US" smtClean="0"/>
              <a:pPr/>
              <a:t>6/18/2026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46415B1-2572-4F4E-AFA0-B4063C44FA40}" type="datetime1">
              <a:rPr lang="en-US" smtClean="0"/>
              <a:pPr/>
              <a:t>6/18/2026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jubayer@aiub.edu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.png"/><Relationship Id="rId4" Type="http://schemas.openxmlformats.org/officeDocument/2006/relationships/hyperlink" Target="https://scholar.google.com/citations?view_op=list_works&amp;hl=en&amp;hl=en&amp;user=WXtW1XMAAAAJ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9AA9F65-94B8-41A5-A7FF-23D2CFB11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E8B0F8E-3F6C-4541-B9C1-774D80A088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A45F5BC-32D1-41CD-B270-C46F18CA1A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E57EE13-72B0-4FFA-ACE1-EBDE89340E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DA182162-B517-4B41-B039-339F87FAE1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9B5AD54-1E68-4239-A6AF-FE0F49BB8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593336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body" idx="1"/>
          </p:nvPr>
        </p:nvSpPr>
        <p:spPr>
          <a:xfrm>
            <a:off x="768267" y="1009397"/>
            <a:ext cx="3078342" cy="480146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400">
                <a:solidFill>
                  <a:srgbClr val="FFFFFF"/>
                </a:solidFill>
              </a:rPr>
              <a:t>Software engineering (Undergraduate)</a:t>
            </a:r>
          </a:p>
        </p:txBody>
      </p:sp>
      <p:sp>
        <p:nvSpPr>
          <p:cNvPr id="13" name="Rectangle 7">
            <a:extLst>
              <a:ext uri="{FF2B5EF4-FFF2-40B4-BE49-F238E27FC236}">
                <a16:creationId xmlns:a16="http://schemas.microsoft.com/office/drawing/2014/main" id="{71131479-3A67-4241-BA19-63C61B2AD6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5" name="Rectangle 9">
            <a:extLst>
              <a:ext uri="{FF2B5EF4-FFF2-40B4-BE49-F238E27FC236}">
                <a16:creationId xmlns:a16="http://schemas.microsoft.com/office/drawing/2014/main" id="{D71187A8-1267-46DA-BD99-56CA1E3D48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7" name="Rectangle 11">
            <a:extLst>
              <a:ext uri="{FF2B5EF4-FFF2-40B4-BE49-F238E27FC236}">
                <a16:creationId xmlns:a16="http://schemas.microsoft.com/office/drawing/2014/main" id="{BC2278FC-331B-4EF7-9D0D-AA0D349A2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9" name="Rectangle 13">
            <a:extLst>
              <a:ext uri="{FF2B5EF4-FFF2-40B4-BE49-F238E27FC236}">
                <a16:creationId xmlns:a16="http://schemas.microsoft.com/office/drawing/2014/main" id="{807A075E-21A0-4954-BEA3-22C78E6FA4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20" name="Rectangle 15">
            <a:extLst>
              <a:ext uri="{FF2B5EF4-FFF2-40B4-BE49-F238E27FC236}">
                <a16:creationId xmlns:a16="http://schemas.microsoft.com/office/drawing/2014/main" id="{F58081DC-3CFD-4290-87AE-164515084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17">
            <a:extLst>
              <a:ext uri="{FF2B5EF4-FFF2-40B4-BE49-F238E27FC236}">
                <a16:creationId xmlns:a16="http://schemas.microsoft.com/office/drawing/2014/main" id="{F6FC796D-883B-4149-9128-47B4179B3B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593336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2" name="Subtitle 2">
            <a:extLst>
              <a:ext uri="{FF2B5EF4-FFF2-40B4-BE49-F238E27FC236}">
                <a16:creationId xmlns:a16="http://schemas.microsoft.com/office/drawing/2014/main" id="{76B6F65C-6B4A-4901-8A96-CE7330250469}"/>
              </a:ext>
            </a:extLst>
          </p:cNvPr>
          <p:cNvSpPr txBox="1">
            <a:spLocks/>
          </p:cNvSpPr>
          <p:nvPr/>
        </p:nvSpPr>
        <p:spPr>
          <a:xfrm>
            <a:off x="768267" y="1009397"/>
            <a:ext cx="3078342" cy="48014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 2" panose="05020102010507070707" pitchFamily="18" charset="2"/>
              <a:buNone/>
            </a:pPr>
            <a:r>
              <a:rPr lang="en-US" sz="2400" u="sng" cap="all" dirty="0">
                <a:solidFill>
                  <a:srgbClr val="FFFFFF"/>
                </a:solidFill>
              </a:rPr>
              <a:t>Course Name</a:t>
            </a:r>
            <a:br>
              <a:rPr lang="en-US" sz="2400" cap="all" dirty="0">
                <a:solidFill>
                  <a:srgbClr val="FFFFFF"/>
                </a:solidFill>
              </a:rPr>
            </a:br>
            <a:br>
              <a:rPr lang="en-US" sz="2400" cap="all" dirty="0">
                <a:solidFill>
                  <a:srgbClr val="FFFFFF"/>
                </a:solidFill>
              </a:rPr>
            </a:br>
            <a:r>
              <a:rPr lang="en-US" sz="2400" cap="all" dirty="0">
                <a:solidFill>
                  <a:srgbClr val="FFFFFF"/>
                </a:solidFill>
              </a:rPr>
              <a:t>software engineering</a:t>
            </a:r>
          </a:p>
          <a:p>
            <a:pPr marL="0" indent="0" algn="ctr">
              <a:buFont typeface="Wingdings 2" panose="05020102010507070707" pitchFamily="18" charset="2"/>
              <a:buNone/>
            </a:pPr>
            <a:r>
              <a:rPr lang="en-US" sz="2400" cap="all" dirty="0">
                <a:solidFill>
                  <a:srgbClr val="FFFFFF"/>
                </a:solidFill>
              </a:rPr>
              <a:t>CSC 3114</a:t>
            </a:r>
          </a:p>
          <a:p>
            <a:pPr marL="0" indent="0" algn="ctr">
              <a:buFont typeface="Wingdings 2" panose="05020102010507070707" pitchFamily="18" charset="2"/>
              <a:buNone/>
            </a:pPr>
            <a:r>
              <a:rPr lang="en-US" sz="2400" cap="all" dirty="0">
                <a:solidFill>
                  <a:srgbClr val="FFFFFF"/>
                </a:solidFill>
              </a:rPr>
              <a:t> (Undergraduate)</a:t>
            </a: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0CADBF75-A870-4E01-9DB8-F57472A203D2}"/>
              </a:ext>
            </a:extLst>
          </p:cNvPr>
          <p:cNvSpPr txBox="1">
            <a:spLocks/>
          </p:cNvSpPr>
          <p:nvPr/>
        </p:nvSpPr>
        <p:spPr>
          <a:xfrm>
            <a:off x="4471587" y="1005840"/>
            <a:ext cx="7181903" cy="13833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000">
                <a:solidFill>
                  <a:srgbClr val="C00000"/>
                </a:solidFill>
              </a:rPr>
              <a:t>Chapter 2</a:t>
            </a:r>
            <a:br>
              <a:rPr lang="en-US" sz="3000" dirty="0">
                <a:solidFill>
                  <a:srgbClr val="C00000"/>
                </a:solidFill>
              </a:rPr>
            </a:br>
            <a:br>
              <a:rPr lang="en-US" sz="3000" dirty="0">
                <a:solidFill>
                  <a:schemeClr val="tx2"/>
                </a:solidFill>
              </a:rPr>
            </a:br>
            <a:r>
              <a:rPr lang="en-US" sz="3000" dirty="0">
                <a:solidFill>
                  <a:schemeClr val="tx2"/>
                </a:solidFill>
              </a:rPr>
              <a:t>software development process model</a:t>
            </a:r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C2082529-78D7-4EA7-BFF9-A1D1F62040C8}"/>
              </a:ext>
            </a:extLst>
          </p:cNvPr>
          <p:cNvSpPr txBox="1">
            <a:spLocks/>
          </p:cNvSpPr>
          <p:nvPr/>
        </p:nvSpPr>
        <p:spPr>
          <a:xfrm>
            <a:off x="8876288" y="3715404"/>
            <a:ext cx="3557012" cy="142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800" dirty="0">
                <a:solidFill>
                  <a:srgbClr val="7030A0"/>
                </a:solidFill>
              </a:rPr>
              <a:t>JUBAYER AHAMED</a:t>
            </a:r>
          </a:p>
          <a:p>
            <a:r>
              <a:rPr lang="en-US" sz="2400" dirty="0">
                <a:solidFill>
                  <a:schemeClr val="tx1"/>
                </a:solidFill>
              </a:rPr>
              <a:t>Lecturer, CS,  AIUB</a:t>
            </a:r>
          </a:p>
          <a:p>
            <a:r>
              <a:rPr lang="en-US" sz="2400" cap="none" dirty="0">
                <a:solidFill>
                  <a:schemeClr val="tx1"/>
                </a:solidFill>
                <a:hlinkClick r:id="rId3"/>
              </a:rPr>
              <a:t>jubayer@aiub.edu</a:t>
            </a:r>
            <a:r>
              <a:rPr lang="en-US" sz="2400" cap="none" dirty="0">
                <a:solidFill>
                  <a:schemeClr val="tx1"/>
                </a:solidFill>
              </a:rPr>
              <a:t> </a:t>
            </a:r>
            <a:endParaRPr lang="en-US" sz="2800" cap="none" dirty="0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085CC0F6-BD7E-4264-9DDC-E65E61EE7B84}"/>
              </a:ext>
            </a:extLst>
          </p:cNvPr>
          <p:cNvCxnSpPr/>
          <p:nvPr/>
        </p:nvCxnSpPr>
        <p:spPr>
          <a:xfrm>
            <a:off x="4350774" y="796413"/>
            <a:ext cx="7329949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E6E5F233-5F84-472A-B835-11475F02A795}"/>
              </a:ext>
            </a:extLst>
          </p:cNvPr>
          <p:cNvCxnSpPr/>
          <p:nvPr/>
        </p:nvCxnSpPr>
        <p:spPr>
          <a:xfrm>
            <a:off x="4340942" y="2969341"/>
            <a:ext cx="7329949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2" name="Picture 2" descr="Google Scholar Logo PNG Vector (AI, PDF ...">
            <a:hlinkClick r:id="rId4"/>
            <a:extLst>
              <a:ext uri="{FF2B5EF4-FFF2-40B4-BE49-F238E27FC236}">
                <a16:creationId xmlns:a16="http://schemas.microsoft.com/office/drawing/2014/main" id="{CE63CACF-36DE-9C52-3964-4DA46A7E16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0942" y="3329982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645650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Software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3261" y="2024743"/>
            <a:ext cx="10652865" cy="2234106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GB" sz="2200" dirty="0">
                <a:latin typeface="+mj-lt"/>
              </a:rPr>
              <a:t>A structured set of activities required to develop a software system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GB" sz="2200" dirty="0">
                <a:latin typeface="+mj-lt"/>
              </a:rPr>
              <a:t>A software process model is an abstract representation of a process.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GB" sz="2200" dirty="0">
                <a:latin typeface="+mj-lt"/>
              </a:rPr>
              <a:t>It presents a description of a process from some particular perspective</a:t>
            </a: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9"/>
            <a:ext cx="242047" cy="685800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Content Placeholder 2"/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SB </a:t>
            </a:r>
          </a:p>
        </p:txBody>
      </p:sp>
    </p:spTree>
    <p:extLst>
      <p:ext uri="{BB962C8B-B14F-4D97-AF65-F5344CB8AC3E}">
        <p14:creationId xmlns:p14="http://schemas.microsoft.com/office/powerpoint/2010/main" val="34116846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Waterfall model</a:t>
            </a: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9"/>
            <a:ext cx="242047" cy="685800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365738" y="1996441"/>
            <a:ext cx="9241302" cy="160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957943" y="3154016"/>
            <a:ext cx="10652865" cy="3564835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GB" sz="2200" b="1" dirty="0">
                <a:latin typeface="+mj-lt"/>
                <a:cs typeface="Times New Roman" panose="02020603050405020304" pitchFamily="18" charset="0"/>
              </a:rPr>
              <a:t>The waterfall or linear sequential model </a:t>
            </a:r>
          </a:p>
          <a:p>
            <a:pPr marL="0" indent="0">
              <a:buNone/>
            </a:pPr>
            <a:r>
              <a:rPr lang="en-GB" sz="2200" dirty="0">
                <a:solidFill>
                  <a:srgbClr val="C00000"/>
                </a:solidFill>
                <a:latin typeface="+mj-lt"/>
                <a:cs typeface="Times New Roman" panose="02020603050405020304" pitchFamily="18" charset="0"/>
              </a:rPr>
              <a:t>Problems of the Waterfall Model</a:t>
            </a:r>
            <a:r>
              <a:rPr lang="en-GB" sz="2200" dirty="0">
                <a:latin typeface="+mj-lt"/>
                <a:cs typeface="Times New Roman" panose="02020603050405020304" pitchFamily="18" charset="0"/>
              </a:rPr>
              <a:t>  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GB" sz="2200" dirty="0">
                <a:latin typeface="+mj-lt"/>
                <a:cs typeface="Times New Roman" panose="02020603050405020304" pitchFamily="18" charset="0"/>
              </a:rPr>
              <a:t>Inflexible partitioning of the project into distinct stages. The </a:t>
            </a:r>
            <a:r>
              <a:rPr lang="en-US" sz="2200" dirty="0">
                <a:latin typeface="+mj-lt"/>
                <a:cs typeface="Times New Roman" panose="02020603050405020304" pitchFamily="18" charset="0"/>
              </a:rPr>
              <a:t>next phase starts only after the completion of the previous phase</a:t>
            </a:r>
            <a:endParaRPr lang="en-GB" sz="2200" dirty="0">
              <a:latin typeface="+mj-lt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GB" sz="2200" dirty="0">
                <a:latin typeface="+mj-lt"/>
                <a:cs typeface="Times New Roman" panose="02020603050405020304" pitchFamily="18" charset="0"/>
              </a:rPr>
              <a:t>This makes it difficult to respond to changing customer requirements (no backtracking)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GB" sz="2200" dirty="0">
                <a:latin typeface="+mj-lt"/>
                <a:cs typeface="Times New Roman" panose="02020603050405020304" pitchFamily="18" charset="0"/>
              </a:rPr>
              <a:t>Therefore, this model is only appropriate when the requirements are well-understood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303E40-ADDA-0C78-EA84-D404D5D51F3A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SB </a:t>
            </a:r>
          </a:p>
        </p:txBody>
      </p:sp>
    </p:spTree>
    <p:extLst>
      <p:ext uri="{BB962C8B-B14F-4D97-AF65-F5344CB8AC3E}">
        <p14:creationId xmlns:p14="http://schemas.microsoft.com/office/powerpoint/2010/main" val="7318360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V -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5745" y="1941341"/>
            <a:ext cx="6206096" cy="4389121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lang="en-US" sz="2000" dirty="0">
                <a:latin typeface="+mj-lt"/>
              </a:rPr>
              <a:t>The V-model is an SDLC model in which process execution happens sequentially in a V-shape. It is also known as a </a:t>
            </a:r>
            <a:r>
              <a:rPr lang="en-US" sz="2000" dirty="0">
                <a:solidFill>
                  <a:srgbClr val="C00000"/>
                </a:solidFill>
                <a:latin typeface="+mj-lt"/>
              </a:rPr>
              <a:t>Verification and Validation </a:t>
            </a:r>
            <a:r>
              <a:rPr lang="en-US" sz="2000" dirty="0">
                <a:latin typeface="+mj-lt"/>
              </a:rPr>
              <a:t>model.</a:t>
            </a:r>
          </a:p>
          <a:p>
            <a:pPr>
              <a:buFont typeface="Wingdings" pitchFamily="2" charset="2"/>
              <a:buChar char="q"/>
            </a:pPr>
            <a:r>
              <a:rPr lang="en-US" sz="2000" dirty="0">
                <a:latin typeface="+mj-lt"/>
              </a:rPr>
              <a:t>V-Model is an extension of the waterfall model and is based on an association of a </a:t>
            </a:r>
            <a:r>
              <a:rPr lang="en-US" sz="2000" dirty="0">
                <a:solidFill>
                  <a:srgbClr val="C00000"/>
                </a:solidFill>
                <a:latin typeface="+mj-lt"/>
              </a:rPr>
              <a:t>testing phase </a:t>
            </a:r>
            <a:r>
              <a:rPr lang="en-US" sz="2000" dirty="0">
                <a:latin typeface="+mj-lt"/>
              </a:rPr>
              <a:t>for each corresponding development stage. This means that every single phase in the development cycle has a directly associated testing phase.</a:t>
            </a:r>
          </a:p>
          <a:p>
            <a:pPr>
              <a:buFont typeface="Wingdings" pitchFamily="2" charset="2"/>
              <a:buChar char="q"/>
            </a:pPr>
            <a:r>
              <a:rPr lang="en-US" sz="2000" dirty="0">
                <a:latin typeface="+mj-lt"/>
              </a:rPr>
              <a:t>This is a highly disciplined model, and the next phase starts only after the completion of the previous phase.</a:t>
            </a:r>
            <a:endParaRPr lang="en-GB" sz="2000" dirty="0">
              <a:latin typeface="+mj-lt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9"/>
            <a:ext cx="242047" cy="685800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/>
          <a:srcRect/>
          <a:stretch/>
        </p:blipFill>
        <p:spPr bwMode="auto">
          <a:xfrm>
            <a:off x="7040011" y="2330539"/>
            <a:ext cx="4726166" cy="36370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B2F2794-2A4A-41F1-381E-0501570FF32B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SB </a:t>
            </a:r>
          </a:p>
        </p:txBody>
      </p:sp>
    </p:spTree>
    <p:extLst>
      <p:ext uri="{BB962C8B-B14F-4D97-AF65-F5344CB8AC3E}">
        <p14:creationId xmlns:p14="http://schemas.microsoft.com/office/powerpoint/2010/main" val="39251331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Prototyping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9567" y="1887565"/>
            <a:ext cx="6492109" cy="4712018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lang="en-GB" sz="2200" dirty="0">
                <a:latin typeface="+mj-lt"/>
              </a:rPr>
              <a:t>Requirements are not precise, and the p</a:t>
            </a:r>
            <a:r>
              <a:rPr lang="en-GB" sz="2200" dirty="0"/>
              <a:t>rototype serves as a mechanism for identifying software requirements</a:t>
            </a:r>
            <a:endParaRPr lang="en-GB" sz="2200" dirty="0">
              <a:latin typeface="+mj-lt"/>
            </a:endParaRPr>
          </a:p>
          <a:p>
            <a:pPr>
              <a:buFont typeface="Wingdings" pitchFamily="2" charset="2"/>
              <a:buChar char="q"/>
            </a:pPr>
            <a:r>
              <a:rPr lang="en-GB" sz="2200" dirty="0">
                <a:latin typeface="+mj-lt"/>
              </a:rPr>
              <a:t>Iteration occurs as the prototype is tuned to satisfy the needs of the customer</a:t>
            </a:r>
          </a:p>
          <a:p>
            <a:pPr>
              <a:buFont typeface="Wingdings" pitchFamily="2" charset="2"/>
              <a:buChar char="q"/>
            </a:pPr>
            <a:r>
              <a:rPr lang="en-GB" sz="2200" dirty="0"/>
              <a:t>System requirements ALWAYS evolve during a project, so process iteration is proper where earlier stages are reworked and is always part of the process for large systems</a:t>
            </a:r>
            <a:endParaRPr lang="en-GB" sz="2200" dirty="0">
              <a:latin typeface="+mj-lt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9"/>
            <a:ext cx="242047" cy="685800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7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261676" y="1887565"/>
            <a:ext cx="4254944" cy="36647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5CDD077-DB25-5B43-C3F8-958B39DDA0A0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SB </a:t>
            </a:r>
          </a:p>
        </p:txBody>
      </p:sp>
    </p:spTree>
    <p:extLst>
      <p:ext uri="{BB962C8B-B14F-4D97-AF65-F5344CB8AC3E}">
        <p14:creationId xmlns:p14="http://schemas.microsoft.com/office/powerpoint/2010/main" val="27690734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58955"/>
            <a:ext cx="11029616" cy="1013800"/>
          </a:xfrm>
        </p:spPr>
        <p:txBody>
          <a:bodyPr>
            <a:normAutofit/>
          </a:bodyPr>
          <a:lstStyle/>
          <a:p>
            <a:r>
              <a:rPr lang="en-GB" dirty="0"/>
              <a:t>Incremental development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6555" y="1920241"/>
            <a:ext cx="11109622" cy="2129244"/>
          </a:xfrm>
        </p:spPr>
        <p:txBody>
          <a:bodyPr>
            <a:normAutofit fontScale="92500"/>
          </a:bodyPr>
          <a:lstStyle/>
          <a:p>
            <a:pPr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GB" sz="2000" dirty="0">
                <a:latin typeface="+mj-lt"/>
              </a:rPr>
              <a:t>Rather than </a:t>
            </a:r>
            <a:r>
              <a:rPr lang="en-US" sz="2000" dirty="0">
                <a:latin typeface="+mj-lt"/>
              </a:rPr>
              <a:t>delivering the system as a single delivery, development and </a:t>
            </a:r>
            <a:r>
              <a:rPr lang="en-US" sz="2000" dirty="0">
                <a:solidFill>
                  <a:srgbClr val="C00000"/>
                </a:solidFill>
                <a:latin typeface="+mj-lt"/>
              </a:rPr>
              <a:t>delivery are broken down into increments,</a:t>
            </a:r>
            <a:r>
              <a:rPr lang="en-GB" sz="2000" dirty="0">
                <a:latin typeface="+mj-lt"/>
              </a:rPr>
              <a:t> with each increment delivering part of the required functionality (SPIRAL). 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GB" sz="2000" dirty="0">
                <a:latin typeface="+mj-lt"/>
              </a:rPr>
              <a:t>T</a:t>
            </a:r>
            <a:r>
              <a:rPr lang="en-US" sz="2000" dirty="0"/>
              <a:t>he requirements are relatively certain but there are many complexities that leads to frequent changes.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GB" sz="2000" dirty="0">
                <a:latin typeface="+mj-lt"/>
              </a:rPr>
              <a:t>User requirements are prioritized, and the </a:t>
            </a:r>
            <a:r>
              <a:rPr lang="en-GB" sz="2000" dirty="0">
                <a:solidFill>
                  <a:srgbClr val="C00000"/>
                </a:solidFill>
                <a:latin typeface="+mj-lt"/>
              </a:rPr>
              <a:t>highest priority requirements</a:t>
            </a:r>
            <a:r>
              <a:rPr lang="en-GB" sz="2000" dirty="0">
                <a:latin typeface="+mj-lt"/>
              </a:rPr>
              <a:t> are included in early increments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GB" sz="2000" dirty="0">
                <a:latin typeface="+mj-lt"/>
              </a:rPr>
              <a:t>Once the development of an increment is started, the </a:t>
            </a:r>
            <a:r>
              <a:rPr lang="en-GB" sz="2000" dirty="0">
                <a:solidFill>
                  <a:srgbClr val="C00000"/>
                </a:solidFill>
                <a:latin typeface="+mj-lt"/>
              </a:rPr>
              <a:t>requirements are frozen</a:t>
            </a:r>
            <a:r>
              <a:rPr lang="en-GB" sz="2000" dirty="0">
                <a:latin typeface="+mj-lt"/>
              </a:rPr>
              <a:t> though requirements for later increments can continue to evolve</a:t>
            </a: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9"/>
            <a:ext cx="238589" cy="1001612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7" name="Group 12"/>
          <p:cNvGrpSpPr>
            <a:grpSpLocks/>
          </p:cNvGrpSpPr>
          <p:nvPr/>
        </p:nvGrpSpPr>
        <p:grpSpPr bwMode="auto">
          <a:xfrm>
            <a:off x="3801291" y="4271554"/>
            <a:ext cx="6489700" cy="570410"/>
            <a:chOff x="960" y="1248"/>
            <a:chExt cx="4088" cy="432"/>
          </a:xfrm>
        </p:grpSpPr>
        <p:sp>
          <p:nvSpPr>
            <p:cNvPr id="8" name="Rectangle 3"/>
            <p:cNvSpPr>
              <a:spLocks noChangeArrowheads="1"/>
            </p:cNvSpPr>
            <p:nvPr/>
          </p:nvSpPr>
          <p:spPr bwMode="auto">
            <a:xfrm>
              <a:off x="960" y="1248"/>
              <a:ext cx="672" cy="43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GB">
                  <a:latin typeface="Calibri" pitchFamily="34" charset="0"/>
                </a:rPr>
                <a:t>Analysis</a:t>
              </a:r>
            </a:p>
          </p:txBody>
        </p:sp>
        <p:sp>
          <p:nvSpPr>
            <p:cNvPr id="9" name="Rectangle 5"/>
            <p:cNvSpPr>
              <a:spLocks noChangeArrowheads="1"/>
            </p:cNvSpPr>
            <p:nvPr/>
          </p:nvSpPr>
          <p:spPr bwMode="auto">
            <a:xfrm>
              <a:off x="1728" y="1248"/>
              <a:ext cx="672" cy="43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GB" dirty="0">
                  <a:latin typeface="Calibri" pitchFamily="34" charset="0"/>
                </a:rPr>
                <a:t>Design</a:t>
              </a:r>
            </a:p>
          </p:txBody>
        </p:sp>
        <p:sp>
          <p:nvSpPr>
            <p:cNvPr id="10" name="Rectangle 6"/>
            <p:cNvSpPr>
              <a:spLocks noChangeArrowheads="1"/>
            </p:cNvSpPr>
            <p:nvPr/>
          </p:nvSpPr>
          <p:spPr bwMode="auto">
            <a:xfrm>
              <a:off x="2544" y="1248"/>
              <a:ext cx="672" cy="43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GB">
                  <a:latin typeface="Calibri" pitchFamily="34" charset="0"/>
                </a:rPr>
                <a:t>Code</a:t>
              </a:r>
            </a:p>
          </p:txBody>
        </p:sp>
        <p:sp>
          <p:nvSpPr>
            <p:cNvPr id="11" name="Rectangle 7"/>
            <p:cNvSpPr>
              <a:spLocks noChangeArrowheads="1"/>
            </p:cNvSpPr>
            <p:nvPr/>
          </p:nvSpPr>
          <p:spPr bwMode="auto">
            <a:xfrm>
              <a:off x="3360" y="1248"/>
              <a:ext cx="672" cy="43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GB" dirty="0">
                  <a:latin typeface="Calibri" pitchFamily="34" charset="0"/>
                </a:rPr>
                <a:t>Test</a:t>
              </a:r>
            </a:p>
          </p:txBody>
        </p:sp>
        <p:sp>
          <p:nvSpPr>
            <p:cNvPr id="12" name="Text Box 8"/>
            <p:cNvSpPr txBox="1">
              <a:spLocks noChangeArrowheads="1"/>
            </p:cNvSpPr>
            <p:nvPr/>
          </p:nvSpPr>
          <p:spPr bwMode="auto">
            <a:xfrm>
              <a:off x="4176" y="1248"/>
              <a:ext cx="872" cy="4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GB">
                  <a:latin typeface="Calibri" pitchFamily="34" charset="0"/>
                </a:rPr>
                <a:t>Delivery</a:t>
              </a:r>
            </a:p>
            <a:p>
              <a:r>
                <a:rPr lang="en-GB">
                  <a:latin typeface="Calibri" pitchFamily="34" charset="0"/>
                </a:rPr>
                <a:t>increment #1</a:t>
              </a:r>
            </a:p>
          </p:txBody>
        </p:sp>
      </p:grpSp>
      <p:sp>
        <p:nvSpPr>
          <p:cNvPr id="13" name="Line 9"/>
          <p:cNvSpPr>
            <a:spLocks noChangeShapeType="1"/>
          </p:cNvSpPr>
          <p:nvPr/>
        </p:nvSpPr>
        <p:spPr bwMode="auto">
          <a:xfrm flipH="1">
            <a:off x="3572690" y="4284616"/>
            <a:ext cx="45719" cy="225747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" name="Line 10"/>
          <p:cNvSpPr>
            <a:spLocks noChangeShapeType="1"/>
          </p:cNvSpPr>
          <p:nvPr/>
        </p:nvSpPr>
        <p:spPr bwMode="auto">
          <a:xfrm>
            <a:off x="3572691" y="6553200"/>
            <a:ext cx="7620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" name="Text Box 11"/>
          <p:cNvSpPr txBox="1">
            <a:spLocks noChangeArrowheads="1"/>
          </p:cNvSpPr>
          <p:nvPr/>
        </p:nvSpPr>
        <p:spPr bwMode="auto">
          <a:xfrm>
            <a:off x="6909616" y="6553200"/>
            <a:ext cx="118745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1400">
                <a:latin typeface="Calibri" pitchFamily="34" charset="0"/>
              </a:rPr>
              <a:t>Calendar time</a:t>
            </a:r>
          </a:p>
        </p:txBody>
      </p:sp>
      <p:grpSp>
        <p:nvGrpSpPr>
          <p:cNvPr id="16" name="Group 13"/>
          <p:cNvGrpSpPr>
            <a:grpSpLocks/>
          </p:cNvGrpSpPr>
          <p:nvPr/>
        </p:nvGrpSpPr>
        <p:grpSpPr bwMode="auto">
          <a:xfrm>
            <a:off x="4638261" y="4976949"/>
            <a:ext cx="6808793" cy="677091"/>
            <a:chOff x="960" y="1248"/>
            <a:chExt cx="4088" cy="432"/>
          </a:xfrm>
        </p:grpSpPr>
        <p:sp>
          <p:nvSpPr>
            <p:cNvPr id="17" name="Rectangle 14"/>
            <p:cNvSpPr>
              <a:spLocks noChangeArrowheads="1"/>
            </p:cNvSpPr>
            <p:nvPr/>
          </p:nvSpPr>
          <p:spPr bwMode="auto">
            <a:xfrm>
              <a:off x="960" y="1248"/>
              <a:ext cx="672" cy="43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GB">
                  <a:latin typeface="Calibri" pitchFamily="34" charset="0"/>
                </a:rPr>
                <a:t>Analysis</a:t>
              </a:r>
            </a:p>
          </p:txBody>
        </p:sp>
        <p:sp>
          <p:nvSpPr>
            <p:cNvPr id="18" name="Rectangle 15"/>
            <p:cNvSpPr>
              <a:spLocks noChangeArrowheads="1"/>
            </p:cNvSpPr>
            <p:nvPr/>
          </p:nvSpPr>
          <p:spPr bwMode="auto">
            <a:xfrm>
              <a:off x="1728" y="1248"/>
              <a:ext cx="672" cy="43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GB">
                  <a:latin typeface="Calibri" pitchFamily="34" charset="0"/>
                </a:rPr>
                <a:t>Design</a:t>
              </a:r>
            </a:p>
          </p:txBody>
        </p:sp>
        <p:sp>
          <p:nvSpPr>
            <p:cNvPr id="19" name="Rectangle 16"/>
            <p:cNvSpPr>
              <a:spLocks noChangeArrowheads="1"/>
            </p:cNvSpPr>
            <p:nvPr/>
          </p:nvSpPr>
          <p:spPr bwMode="auto">
            <a:xfrm>
              <a:off x="2544" y="1248"/>
              <a:ext cx="672" cy="43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GB" dirty="0">
                  <a:latin typeface="Calibri" pitchFamily="34" charset="0"/>
                </a:rPr>
                <a:t>Code</a:t>
              </a:r>
            </a:p>
          </p:txBody>
        </p:sp>
        <p:sp>
          <p:nvSpPr>
            <p:cNvPr id="20" name="Rectangle 17"/>
            <p:cNvSpPr>
              <a:spLocks noChangeArrowheads="1"/>
            </p:cNvSpPr>
            <p:nvPr/>
          </p:nvSpPr>
          <p:spPr bwMode="auto">
            <a:xfrm>
              <a:off x="3360" y="1248"/>
              <a:ext cx="672" cy="43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GB">
                  <a:latin typeface="Calibri" pitchFamily="34" charset="0"/>
                </a:rPr>
                <a:t>Test</a:t>
              </a:r>
            </a:p>
          </p:txBody>
        </p:sp>
        <p:sp>
          <p:nvSpPr>
            <p:cNvPr id="21" name="Text Box 18"/>
            <p:cNvSpPr txBox="1">
              <a:spLocks noChangeArrowheads="1"/>
            </p:cNvSpPr>
            <p:nvPr/>
          </p:nvSpPr>
          <p:spPr bwMode="auto">
            <a:xfrm>
              <a:off x="4176" y="1248"/>
              <a:ext cx="872" cy="4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GB">
                  <a:latin typeface="Calibri" pitchFamily="34" charset="0"/>
                </a:rPr>
                <a:t>Delivery</a:t>
              </a:r>
            </a:p>
            <a:p>
              <a:r>
                <a:rPr lang="en-GB">
                  <a:latin typeface="Calibri" pitchFamily="34" charset="0"/>
                </a:rPr>
                <a:t>increment #2</a:t>
              </a:r>
            </a:p>
          </p:txBody>
        </p:sp>
      </p:grpSp>
      <p:grpSp>
        <p:nvGrpSpPr>
          <p:cNvPr id="22" name="Group 19"/>
          <p:cNvGrpSpPr>
            <a:grpSpLocks/>
          </p:cNvGrpSpPr>
          <p:nvPr/>
        </p:nvGrpSpPr>
        <p:grpSpPr bwMode="auto">
          <a:xfrm>
            <a:off x="5406887" y="5865222"/>
            <a:ext cx="6552652" cy="535577"/>
            <a:chOff x="960" y="1248"/>
            <a:chExt cx="3931" cy="432"/>
          </a:xfrm>
        </p:grpSpPr>
        <p:sp>
          <p:nvSpPr>
            <p:cNvPr id="23" name="Rectangle 20"/>
            <p:cNvSpPr>
              <a:spLocks noChangeArrowheads="1"/>
            </p:cNvSpPr>
            <p:nvPr/>
          </p:nvSpPr>
          <p:spPr bwMode="auto">
            <a:xfrm>
              <a:off x="960" y="1248"/>
              <a:ext cx="672" cy="43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GB" dirty="0">
                  <a:latin typeface="Calibri" pitchFamily="34" charset="0"/>
                </a:rPr>
                <a:t>Analysis</a:t>
              </a:r>
            </a:p>
          </p:txBody>
        </p:sp>
        <p:sp>
          <p:nvSpPr>
            <p:cNvPr id="24" name="Rectangle 21"/>
            <p:cNvSpPr>
              <a:spLocks noChangeArrowheads="1"/>
            </p:cNvSpPr>
            <p:nvPr/>
          </p:nvSpPr>
          <p:spPr bwMode="auto">
            <a:xfrm>
              <a:off x="1728" y="1248"/>
              <a:ext cx="672" cy="43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GB">
                  <a:latin typeface="Calibri" pitchFamily="34" charset="0"/>
                </a:rPr>
                <a:t>Design</a:t>
              </a:r>
            </a:p>
          </p:txBody>
        </p:sp>
        <p:sp>
          <p:nvSpPr>
            <p:cNvPr id="25" name="Rectangle 22"/>
            <p:cNvSpPr>
              <a:spLocks noChangeArrowheads="1"/>
            </p:cNvSpPr>
            <p:nvPr/>
          </p:nvSpPr>
          <p:spPr bwMode="auto">
            <a:xfrm>
              <a:off x="2544" y="1248"/>
              <a:ext cx="672" cy="43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GB" dirty="0">
                  <a:latin typeface="Calibri" pitchFamily="34" charset="0"/>
                </a:rPr>
                <a:t>Code</a:t>
              </a:r>
            </a:p>
          </p:txBody>
        </p:sp>
        <p:sp>
          <p:nvSpPr>
            <p:cNvPr id="26" name="Rectangle 23"/>
            <p:cNvSpPr>
              <a:spLocks noChangeArrowheads="1"/>
            </p:cNvSpPr>
            <p:nvPr/>
          </p:nvSpPr>
          <p:spPr bwMode="auto">
            <a:xfrm>
              <a:off x="3360" y="1248"/>
              <a:ext cx="672" cy="43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GB" dirty="0">
                  <a:latin typeface="Calibri" pitchFamily="34" charset="0"/>
                </a:rPr>
                <a:t>Test</a:t>
              </a:r>
            </a:p>
          </p:txBody>
        </p:sp>
        <p:sp>
          <p:nvSpPr>
            <p:cNvPr id="27" name="Text Box 24"/>
            <p:cNvSpPr txBox="1">
              <a:spLocks noChangeArrowheads="1"/>
            </p:cNvSpPr>
            <p:nvPr/>
          </p:nvSpPr>
          <p:spPr bwMode="auto">
            <a:xfrm>
              <a:off x="4108" y="1248"/>
              <a:ext cx="783" cy="29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r>
                <a:rPr lang="en-GB" dirty="0">
                  <a:latin typeface="Calibri" pitchFamily="34" charset="0"/>
                </a:rPr>
                <a:t>Delivery #3</a:t>
              </a:r>
            </a:p>
          </p:txBody>
        </p:sp>
      </p:grp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9C10A0D-78A2-BF7F-A7E4-9820261191BA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SB </a:t>
            </a:r>
          </a:p>
        </p:txBody>
      </p:sp>
    </p:spTree>
    <p:extLst>
      <p:ext uri="{BB962C8B-B14F-4D97-AF65-F5344CB8AC3E}">
        <p14:creationId xmlns:p14="http://schemas.microsoft.com/office/powerpoint/2010/main" val="15670446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Rapid Application Development (RAD)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7947" y="2024743"/>
            <a:ext cx="10652865" cy="4349931"/>
          </a:xfrm>
        </p:spPr>
        <p:txBody>
          <a:bodyPr>
            <a:normAutofit lnSpcReduction="10000"/>
          </a:bodyPr>
          <a:lstStyle/>
          <a:p>
            <a:pPr>
              <a:buFont typeface="Wingdings" pitchFamily="2" charset="2"/>
              <a:buChar char="q"/>
            </a:pPr>
            <a:r>
              <a:rPr lang="en-US" sz="2000" dirty="0"/>
              <a:t>It is a type of incremental model. The developments are time-boxed, delivered, and then assembled into a working  prototype</a:t>
            </a:r>
          </a:p>
          <a:p>
            <a:pPr>
              <a:buFont typeface="Wingdings" pitchFamily="2" charset="2"/>
              <a:buChar char="q"/>
            </a:pPr>
            <a:r>
              <a:rPr lang="en-US" sz="2000" dirty="0"/>
              <a:t>In the RAD model, the components or functions are </a:t>
            </a:r>
            <a:r>
              <a:rPr lang="en-US" sz="2000" dirty="0">
                <a:solidFill>
                  <a:srgbClr val="C00000"/>
                </a:solidFill>
              </a:rPr>
              <a:t>developed in parallel </a:t>
            </a:r>
            <a:r>
              <a:rPr lang="en-US" sz="2000" dirty="0"/>
              <a:t>as if they were mini projects (frozen requirements in each increment)</a:t>
            </a:r>
          </a:p>
          <a:p>
            <a:pPr>
              <a:buFont typeface="Wingdings" pitchFamily="2" charset="2"/>
              <a:buChar char="q"/>
            </a:pPr>
            <a:r>
              <a:rPr lang="en-US" sz="2000" dirty="0"/>
              <a:t> This can quickly give the customer something to see and use and to provide feedback</a:t>
            </a:r>
          </a:p>
          <a:p>
            <a:pPr>
              <a:buFont typeface="Wingdings" pitchFamily="2" charset="2"/>
              <a:buChar char="q"/>
            </a:pPr>
            <a:r>
              <a:rPr lang="en-GB" altLang="en-US" sz="2000" dirty="0"/>
              <a:t>Delivers a fully functional system in </a:t>
            </a:r>
            <a:r>
              <a:rPr lang="en-GB" altLang="en-US" sz="2000" dirty="0">
                <a:solidFill>
                  <a:srgbClr val="C00000"/>
                </a:solidFill>
              </a:rPr>
              <a:t>90 days.</a:t>
            </a:r>
            <a:endParaRPr lang="en-US" sz="2000" dirty="0"/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GB" altLang="en-US" sz="2000" dirty="0"/>
              <a:t>Phases of RAD are: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§"/>
            </a:pPr>
            <a:r>
              <a:rPr lang="en-GB" altLang="en-US" sz="2000" dirty="0">
                <a:solidFill>
                  <a:srgbClr val="0070C0"/>
                </a:solidFill>
              </a:rPr>
              <a:t>Requirements Planning 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§"/>
            </a:pPr>
            <a:r>
              <a:rPr lang="en-GB" altLang="en-US" sz="2000" dirty="0">
                <a:solidFill>
                  <a:srgbClr val="0070C0"/>
                </a:solidFill>
              </a:rPr>
              <a:t>User Design </a:t>
            </a:r>
            <a:r>
              <a:rPr lang="en-GB" altLang="en-US" sz="2000" dirty="0"/>
              <a:t>(user interacts with the system analysts)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§"/>
            </a:pPr>
            <a:r>
              <a:rPr lang="en-GB" altLang="en-US" sz="2000" dirty="0">
                <a:solidFill>
                  <a:srgbClr val="0070C0"/>
                </a:solidFill>
              </a:rPr>
              <a:t>Construction</a:t>
            </a:r>
            <a:r>
              <a:rPr lang="en-GB" altLang="en-US" sz="2000" dirty="0">
                <a:solidFill>
                  <a:srgbClr val="FF0000"/>
                </a:solidFill>
              </a:rPr>
              <a:t> </a:t>
            </a:r>
            <a:r>
              <a:rPr lang="en-GB" altLang="en-US" sz="2000" dirty="0"/>
              <a:t> (program and application development)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§"/>
            </a:pPr>
            <a:r>
              <a:rPr lang="en-GB" altLang="en-US" sz="2000" dirty="0">
                <a:solidFill>
                  <a:srgbClr val="0070C0"/>
                </a:solidFill>
              </a:rPr>
              <a:t>Cutover</a:t>
            </a:r>
            <a:r>
              <a:rPr lang="en-GB" altLang="en-US" sz="2000" dirty="0">
                <a:solidFill>
                  <a:srgbClr val="FF0000"/>
                </a:solidFill>
              </a:rPr>
              <a:t> </a:t>
            </a:r>
            <a:r>
              <a:rPr lang="en-GB" altLang="en-US" sz="2000" dirty="0"/>
              <a:t>(testing, changeover to new system, user training)</a:t>
            </a:r>
            <a:endParaRPr lang="en-US" sz="2200" b="1" dirty="0">
              <a:latin typeface="+mj-lt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9"/>
            <a:ext cx="264714" cy="1053864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D6D9ECC-68FF-8D7D-811B-14DD60441EAC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SB </a:t>
            </a:r>
          </a:p>
        </p:txBody>
      </p:sp>
    </p:spTree>
    <p:extLst>
      <p:ext uri="{BB962C8B-B14F-4D97-AF65-F5344CB8AC3E}">
        <p14:creationId xmlns:p14="http://schemas.microsoft.com/office/powerpoint/2010/main" val="13733231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Risk profile</a:t>
            </a:r>
            <a:endParaRPr lang="en-US" dirty="0">
              <a:latin typeface="Bell MT" pitchFamily="18" charset="0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9"/>
            <a:ext cx="238589" cy="1001612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6" name="Picture 7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39537" y="1854925"/>
            <a:ext cx="8279674" cy="47810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64E10F-2430-EE4F-3CEE-3FB90BB588DA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SB </a:t>
            </a:r>
          </a:p>
        </p:txBody>
      </p:sp>
    </p:spTree>
    <p:extLst>
      <p:ext uri="{BB962C8B-B14F-4D97-AF65-F5344CB8AC3E}">
        <p14:creationId xmlns:p14="http://schemas.microsoft.com/office/powerpoint/2010/main" val="15612720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0200" y="2063932"/>
            <a:ext cx="10953310" cy="2625634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2000" dirty="0">
                <a:ea typeface="ＭＳ Ｐゴシック" pitchFamily="34" charset="-128"/>
              </a:rPr>
              <a:t>R.S. Pressman &amp; Associates, Inc. (2010). </a:t>
            </a:r>
            <a:r>
              <a:rPr lang="en-US" sz="2000" i="1" dirty="0">
                <a:ea typeface="ＭＳ Ｐゴシック" pitchFamily="34" charset="-128"/>
              </a:rPr>
              <a:t>Software Engineering: A Practitioner’s Approach.</a:t>
            </a:r>
          </a:p>
          <a:p>
            <a:pPr>
              <a:defRPr/>
            </a:pPr>
            <a:r>
              <a:rPr lang="en-US" sz="2000" dirty="0"/>
              <a:t>Kelly, J. C., </a:t>
            </a:r>
            <a:r>
              <a:rPr lang="en-US" sz="2000" dirty="0" err="1"/>
              <a:t>Sherif</a:t>
            </a:r>
            <a:r>
              <a:rPr lang="en-US" sz="2000" dirty="0"/>
              <a:t>, J. S., &amp; Hops, J. (1992). An analysis of defect densities found during software inspections. </a:t>
            </a:r>
            <a:r>
              <a:rPr lang="en-US" sz="2000" i="1" dirty="0"/>
              <a:t>Journal of Systems and Software</a:t>
            </a:r>
            <a:r>
              <a:rPr lang="en-US" sz="2000" dirty="0"/>
              <a:t>, </a:t>
            </a:r>
            <a:r>
              <a:rPr lang="en-US" sz="2000" i="1" dirty="0"/>
              <a:t>17</a:t>
            </a:r>
            <a:r>
              <a:rPr lang="en-US" sz="2000" dirty="0"/>
              <a:t>(2), 111-117.</a:t>
            </a:r>
          </a:p>
          <a:p>
            <a:pPr>
              <a:defRPr/>
            </a:pPr>
            <a:r>
              <a:rPr lang="en-US" sz="2000" dirty="0"/>
              <a:t>Bhandari, I., Halliday, M. J., </a:t>
            </a:r>
            <a:r>
              <a:rPr lang="en-US" sz="2000" dirty="0" err="1"/>
              <a:t>Chaar</a:t>
            </a:r>
            <a:r>
              <a:rPr lang="en-US" sz="2000" dirty="0"/>
              <a:t>, J., </a:t>
            </a:r>
            <a:r>
              <a:rPr lang="en-US" sz="2000" dirty="0" err="1"/>
              <a:t>Chillarege</a:t>
            </a:r>
            <a:r>
              <a:rPr lang="en-US" sz="2000" dirty="0"/>
              <a:t>, R., Jones, K., Atkinson, J. S., &amp; </a:t>
            </a:r>
            <a:r>
              <a:rPr lang="en-US" sz="2000" dirty="0" err="1"/>
              <a:t>Yonezawa</a:t>
            </a:r>
            <a:r>
              <a:rPr lang="en-US" sz="2000" dirty="0"/>
              <a:t>, M. (1994).</a:t>
            </a:r>
            <a:br>
              <a:rPr lang="en-US" sz="2000" dirty="0"/>
            </a:br>
            <a:r>
              <a:rPr lang="en-US" sz="2000" dirty="0"/>
              <a:t>In-process improvement through defect data interpretation. </a:t>
            </a:r>
            <a:r>
              <a:rPr lang="en-US" sz="2000" i="1" dirty="0"/>
              <a:t>IBM Systems Journal</a:t>
            </a:r>
            <a:r>
              <a:rPr lang="en-US" sz="2000" dirty="0"/>
              <a:t>, </a:t>
            </a:r>
            <a:r>
              <a:rPr lang="en-US" sz="2000" i="1" dirty="0"/>
              <a:t>33</a:t>
            </a:r>
            <a:r>
              <a:rPr lang="en-US" sz="2000" dirty="0"/>
              <a:t>(1), 182-214.</a:t>
            </a:r>
            <a:endParaRPr lang="en-US" sz="2000" dirty="0">
              <a:ea typeface="ＭＳ Ｐゴシック" pitchFamily="34" charset="-128"/>
            </a:endParaRPr>
          </a:p>
          <a:p>
            <a:pPr>
              <a:defRPr/>
            </a:pPr>
            <a:endParaRPr lang="en-US" altLang="zh-TW" sz="2000" dirty="0">
              <a:solidFill>
                <a:srgbClr val="00B050"/>
              </a:solidFill>
              <a:latin typeface="+mj-lt"/>
              <a:ea typeface="PMingLiU" pitchFamily="18" charset="-12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11665746" y="587829"/>
            <a:ext cx="425823" cy="122516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</a:t>
            </a: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- 10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5428DD3-CABA-9384-F30E-42C6A72F954F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SB </a:t>
            </a:r>
          </a:p>
        </p:txBody>
      </p:sp>
    </p:spTree>
    <p:extLst>
      <p:ext uri="{BB962C8B-B14F-4D97-AF65-F5344CB8AC3E}">
        <p14:creationId xmlns:p14="http://schemas.microsoft.com/office/powerpoint/2010/main" val="64039236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Dividend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614</TotalTime>
  <Words>650</Words>
  <Application>Microsoft Office PowerPoint</Application>
  <PresentationFormat>Widescreen</PresentationFormat>
  <Paragraphs>85</Paragraphs>
  <Slides>9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ＭＳ Ｐゴシック</vt:lpstr>
      <vt:lpstr>Bell MT</vt:lpstr>
      <vt:lpstr>Calibri</vt:lpstr>
      <vt:lpstr>Gill Sans MT</vt:lpstr>
      <vt:lpstr>Wingdings</vt:lpstr>
      <vt:lpstr>Wingdings 2</vt:lpstr>
      <vt:lpstr>Dividend</vt:lpstr>
      <vt:lpstr>PowerPoint Presentation</vt:lpstr>
      <vt:lpstr>Software process</vt:lpstr>
      <vt:lpstr>Waterfall model</vt:lpstr>
      <vt:lpstr>V - model</vt:lpstr>
      <vt:lpstr>Prototyping model</vt:lpstr>
      <vt:lpstr>Incremental development</vt:lpstr>
      <vt:lpstr>Rapid Application Development (RAD)</vt:lpstr>
      <vt:lpstr>Risk profile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 - Ch.02 - Software Developmnet Process Model</dc:title>
  <dc:subject>Software Engineering</dc:subject>
  <dc:creator>M. Mahmudul Hasan</dc:creator>
  <cp:lastModifiedBy>Jubayer Ahamed</cp:lastModifiedBy>
  <cp:revision>29</cp:revision>
  <dcterms:created xsi:type="dcterms:W3CDTF">2019-05-13T08:37:20Z</dcterms:created>
  <dcterms:modified xsi:type="dcterms:W3CDTF">2026-06-18T11:10:01Z</dcterms:modified>
</cp:coreProperties>
</file>