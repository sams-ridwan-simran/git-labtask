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6"/>
  </p:notesMasterIdLst>
  <p:sldIdLst>
    <p:sldId id="256" r:id="rId2"/>
    <p:sldId id="313" r:id="rId3"/>
    <p:sldId id="293" r:id="rId4"/>
    <p:sldId id="295" r:id="rId5"/>
    <p:sldId id="297" r:id="rId6"/>
    <p:sldId id="314" r:id="rId7"/>
    <p:sldId id="299" r:id="rId8"/>
    <p:sldId id="298" r:id="rId9"/>
    <p:sldId id="307" r:id="rId10"/>
    <p:sldId id="308" r:id="rId11"/>
    <p:sldId id="309" r:id="rId12"/>
    <p:sldId id="310" r:id="rId13"/>
    <p:sldId id="312" r:id="rId14"/>
    <p:sldId id="31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09" autoAdjust="0"/>
    <p:restoredTop sz="93447" autoAdjust="0"/>
  </p:normalViewPr>
  <p:slideViewPr>
    <p:cSldViewPr snapToGrid="0">
      <p:cViewPr varScale="1">
        <p:scale>
          <a:sx n="59" d="100"/>
          <a:sy n="59" d="100"/>
        </p:scale>
        <p:origin x="68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kat Baul" userId="dae859d7-ea3e-4a5d-83a1-d953f3940120" providerId="ADAL" clId="{7AF214CD-E0DE-48B8-8F33-85F80140BCFB}"/>
    <pc:docChg chg="modSld sldOrd">
      <pc:chgData name="Saikat Baul" userId="dae859d7-ea3e-4a5d-83a1-d953f3940120" providerId="ADAL" clId="{7AF214CD-E0DE-48B8-8F33-85F80140BCFB}" dt="2025-03-15T14:35:10.931" v="1"/>
      <pc:docMkLst>
        <pc:docMk/>
      </pc:docMkLst>
      <pc:sldChg chg="ord">
        <pc:chgData name="Saikat Baul" userId="dae859d7-ea3e-4a5d-83a1-d953f3940120" providerId="ADAL" clId="{7AF214CD-E0DE-48B8-8F33-85F80140BCFB}" dt="2025-03-15T14:35:10.931" v="1"/>
        <pc:sldMkLst>
          <pc:docMk/>
          <pc:sldMk cId="3411684674" sldId="310"/>
        </pc:sldMkLst>
      </pc:sldChg>
    </pc:docChg>
  </pc:docChgLst>
  <pc:docChgLst>
    <pc:chgData name="Saikat Baul" userId="dae859d7-ea3e-4a5d-83a1-d953f3940120" providerId="ADAL" clId="{C6A6FCEC-4417-450F-BCDE-5CA5509732F0}"/>
    <pc:docChg chg="undo redo custSel modSld">
      <pc:chgData name="Saikat Baul" userId="dae859d7-ea3e-4a5d-83a1-d953f3940120" providerId="ADAL" clId="{C6A6FCEC-4417-450F-BCDE-5CA5509732F0}" dt="2025-03-03T14:04:58.450" v="149"/>
      <pc:docMkLst>
        <pc:docMk/>
      </pc:docMkLst>
      <pc:sldChg chg="modSp mod">
        <pc:chgData name="Saikat Baul" userId="dae859d7-ea3e-4a5d-83a1-d953f3940120" providerId="ADAL" clId="{C6A6FCEC-4417-450F-BCDE-5CA5509732F0}" dt="2025-03-01T08:35:44.127" v="22" actId="120"/>
        <pc:sldMkLst>
          <pc:docMk/>
          <pc:sldMk cId="2664565021" sldId="256"/>
        </pc:sldMkLst>
        <pc:spChg chg="mod">
          <ac:chgData name="Saikat Baul" userId="dae859d7-ea3e-4a5d-83a1-d953f3940120" providerId="ADAL" clId="{C6A6FCEC-4417-450F-BCDE-5CA5509732F0}" dt="2025-03-01T08:35:44.127" v="22" actId="120"/>
          <ac:spMkLst>
            <pc:docMk/>
            <pc:sldMk cId="2664565021" sldId="256"/>
            <ac:spMk id="24" creationId="{C2082529-78D7-4EA7-BFF9-A1D1F62040C8}"/>
          </ac:spMkLst>
        </pc:spChg>
      </pc:sldChg>
      <pc:sldChg chg="delSp mod">
        <pc:chgData name="Saikat Baul" userId="dae859d7-ea3e-4a5d-83a1-d953f3940120" providerId="ADAL" clId="{C6A6FCEC-4417-450F-BCDE-5CA5509732F0}" dt="2025-03-02T07:29:06.968" v="24" actId="478"/>
        <pc:sldMkLst>
          <pc:docMk/>
          <pc:sldMk cId="3411684674" sldId="298"/>
        </pc:sldMkLst>
      </pc:sldChg>
      <pc:sldChg chg="delSp mod">
        <pc:chgData name="Saikat Baul" userId="dae859d7-ea3e-4a5d-83a1-d953f3940120" providerId="ADAL" clId="{C6A6FCEC-4417-450F-BCDE-5CA5509732F0}" dt="2025-03-02T07:28:42.103" v="23" actId="478"/>
        <pc:sldMkLst>
          <pc:docMk/>
          <pc:sldMk cId="3411684674" sldId="301"/>
        </pc:sldMkLst>
      </pc:sldChg>
      <pc:sldChg chg="delSp mod">
        <pc:chgData name="Saikat Baul" userId="dae859d7-ea3e-4a5d-83a1-d953f3940120" providerId="ADAL" clId="{C6A6FCEC-4417-450F-BCDE-5CA5509732F0}" dt="2025-03-02T07:29:12.017" v="25" actId="478"/>
        <pc:sldMkLst>
          <pc:docMk/>
          <pc:sldMk cId="3411684674" sldId="302"/>
        </pc:sldMkLst>
      </pc:sldChg>
      <pc:sldChg chg="delSp mod">
        <pc:chgData name="Saikat Baul" userId="dae859d7-ea3e-4a5d-83a1-d953f3940120" providerId="ADAL" clId="{C6A6FCEC-4417-450F-BCDE-5CA5509732F0}" dt="2025-03-02T07:29:16.114" v="26" actId="478"/>
        <pc:sldMkLst>
          <pc:docMk/>
          <pc:sldMk cId="3411684674" sldId="303"/>
        </pc:sldMkLst>
      </pc:sldChg>
      <pc:sldChg chg="delSp mod">
        <pc:chgData name="Saikat Baul" userId="dae859d7-ea3e-4a5d-83a1-d953f3940120" providerId="ADAL" clId="{C6A6FCEC-4417-450F-BCDE-5CA5509732F0}" dt="2025-03-02T07:29:20.617" v="27" actId="478"/>
        <pc:sldMkLst>
          <pc:docMk/>
          <pc:sldMk cId="3411684674" sldId="305"/>
        </pc:sldMkLst>
      </pc:sldChg>
      <pc:sldChg chg="modSp mod">
        <pc:chgData name="Saikat Baul" userId="dae859d7-ea3e-4a5d-83a1-d953f3940120" providerId="ADAL" clId="{C6A6FCEC-4417-450F-BCDE-5CA5509732F0}" dt="2025-03-03T13:51:46.327" v="97" actId="20577"/>
        <pc:sldMkLst>
          <pc:docMk/>
          <pc:sldMk cId="3411684674" sldId="306"/>
        </pc:sldMkLst>
        <pc:spChg chg="mod">
          <ac:chgData name="Saikat Baul" userId="dae859d7-ea3e-4a5d-83a1-d953f3940120" providerId="ADAL" clId="{C6A6FCEC-4417-450F-BCDE-5CA5509732F0}" dt="2025-03-03T13:51:46.327" v="97" actId="20577"/>
          <ac:spMkLst>
            <pc:docMk/>
            <pc:sldMk cId="3411684674" sldId="306"/>
            <ac:spMk id="3" creationId="{00000000-0000-0000-0000-000000000000}"/>
          </ac:spMkLst>
        </pc:spChg>
      </pc:sldChg>
      <pc:sldChg chg="modSp mod">
        <pc:chgData name="Saikat Baul" userId="dae859d7-ea3e-4a5d-83a1-d953f3940120" providerId="ADAL" clId="{C6A6FCEC-4417-450F-BCDE-5CA5509732F0}" dt="2025-03-03T13:59:08.010" v="135" actId="20577"/>
        <pc:sldMkLst>
          <pc:docMk/>
          <pc:sldMk cId="3411684674" sldId="307"/>
        </pc:sldMkLst>
        <pc:spChg chg="mod">
          <ac:chgData name="Saikat Baul" userId="dae859d7-ea3e-4a5d-83a1-d953f3940120" providerId="ADAL" clId="{C6A6FCEC-4417-450F-BCDE-5CA5509732F0}" dt="2025-03-03T13:59:08.010" v="135" actId="20577"/>
          <ac:spMkLst>
            <pc:docMk/>
            <pc:sldMk cId="3411684674" sldId="307"/>
            <ac:spMk id="3" creationId="{00000000-0000-0000-0000-000000000000}"/>
          </ac:spMkLst>
        </pc:spChg>
      </pc:sldChg>
      <pc:sldChg chg="modSp mod">
        <pc:chgData name="Saikat Baul" userId="dae859d7-ea3e-4a5d-83a1-d953f3940120" providerId="ADAL" clId="{C6A6FCEC-4417-450F-BCDE-5CA5509732F0}" dt="2025-03-03T14:00:11.833" v="137" actId="20577"/>
        <pc:sldMkLst>
          <pc:docMk/>
          <pc:sldMk cId="3411684674" sldId="308"/>
        </pc:sldMkLst>
        <pc:spChg chg="mod">
          <ac:chgData name="Saikat Baul" userId="dae859d7-ea3e-4a5d-83a1-d953f3940120" providerId="ADAL" clId="{C6A6FCEC-4417-450F-BCDE-5CA5509732F0}" dt="2025-03-03T14:00:11.833" v="137" actId="20577"/>
          <ac:spMkLst>
            <pc:docMk/>
            <pc:sldMk cId="3411684674" sldId="308"/>
            <ac:spMk id="3" creationId="{00000000-0000-0000-0000-000000000000}"/>
          </ac:spMkLst>
        </pc:spChg>
      </pc:sldChg>
      <pc:sldChg chg="modSp mod">
        <pc:chgData name="Saikat Baul" userId="dae859d7-ea3e-4a5d-83a1-d953f3940120" providerId="ADAL" clId="{C6A6FCEC-4417-450F-BCDE-5CA5509732F0}" dt="2025-03-03T14:04:58.450" v="149"/>
        <pc:sldMkLst>
          <pc:docMk/>
          <pc:sldMk cId="3411684674" sldId="310"/>
        </pc:sldMkLst>
        <pc:spChg chg="mod">
          <ac:chgData name="Saikat Baul" userId="dae859d7-ea3e-4a5d-83a1-d953f3940120" providerId="ADAL" clId="{C6A6FCEC-4417-450F-BCDE-5CA5509732F0}" dt="2025-03-03T14:02:44.495" v="148" actId="313"/>
          <ac:spMkLst>
            <pc:docMk/>
            <pc:sldMk cId="3411684674" sldId="310"/>
            <ac:spMk id="2" creationId="{00000000-0000-0000-0000-000000000000}"/>
          </ac:spMkLst>
        </pc:spChg>
        <pc:spChg chg="mod">
          <ac:chgData name="Saikat Baul" userId="dae859d7-ea3e-4a5d-83a1-d953f3940120" providerId="ADAL" clId="{C6A6FCEC-4417-450F-BCDE-5CA5509732F0}" dt="2025-03-03T14:04:58.450" v="149"/>
          <ac:spMkLst>
            <pc:docMk/>
            <pc:sldMk cId="3411684674" sldId="310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18/06/2026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B23E7-B30D-2BFF-95D0-3721675F1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119FA-F709-49A8-A58E-F227B09E9A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7ED91D-882A-8595-E3DC-70CF9729F3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044CF-4768-6FA5-EB94-97DB7CC1BC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6808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0795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0321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6/18/2026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ubayer@aiub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hyperlink" Target="https://scholar.google.com/citations?view_op=list_works&amp;hl=en&amp;hl=en&amp;user=WXtW1XMAAAAJ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 dirty="0">
                <a:solidFill>
                  <a:srgbClr val="FFFFFF"/>
                </a:solidFill>
              </a:rPr>
              <a:t>Course Name</a:t>
            </a:r>
            <a:br>
              <a:rPr lang="en-US" sz="2400" cap="all" dirty="0">
                <a:solidFill>
                  <a:srgbClr val="FFFFFF"/>
                </a:solidFill>
              </a:rPr>
            </a:br>
            <a:br>
              <a:rPr lang="en-US" sz="2400" cap="all" dirty="0">
                <a:solidFill>
                  <a:srgbClr val="FFFFFF"/>
                </a:solidFill>
              </a:rPr>
            </a:br>
            <a:r>
              <a:rPr lang="en-US" sz="2400" cap="all" dirty="0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 dirty="0">
                <a:solidFill>
                  <a:srgbClr val="C00000"/>
                </a:solidFill>
              </a:rPr>
              <a:t>Chapter 1</a:t>
            </a:r>
            <a:br>
              <a:rPr lang="en-US" sz="3000" dirty="0">
                <a:solidFill>
                  <a:srgbClr val="C00000"/>
                </a:solidFill>
              </a:rPr>
            </a:b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software &amp; software engineering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2082529-78D7-4EA7-BFF9-A1D1F62040C8}"/>
              </a:ext>
            </a:extLst>
          </p:cNvPr>
          <p:cNvSpPr txBox="1">
            <a:spLocks/>
          </p:cNvSpPr>
          <p:nvPr/>
        </p:nvSpPr>
        <p:spPr>
          <a:xfrm>
            <a:off x="9170807" y="3599399"/>
            <a:ext cx="2860326" cy="16463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dirty="0">
                <a:solidFill>
                  <a:srgbClr val="7030A0"/>
                </a:solidFill>
              </a:rPr>
              <a:t>Jubayer </a:t>
            </a:r>
            <a:r>
              <a:rPr lang="en-US" sz="2400" dirty="0" err="1">
                <a:solidFill>
                  <a:srgbClr val="7030A0"/>
                </a:solidFill>
              </a:rPr>
              <a:t>ahamed</a:t>
            </a:r>
            <a:endParaRPr lang="en-US" sz="2400" dirty="0">
              <a:solidFill>
                <a:srgbClr val="7030A0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Lecturer, CS,  AIUB</a:t>
            </a:r>
          </a:p>
          <a:p>
            <a:r>
              <a:rPr lang="en-US" sz="2000" cap="none" dirty="0">
                <a:solidFill>
                  <a:schemeClr val="tx1"/>
                </a:solidFill>
                <a:hlinkClick r:id="rId3"/>
              </a:rPr>
              <a:t>jubayer@aiub.edu</a:t>
            </a:r>
            <a:r>
              <a:rPr lang="en-US" sz="2000" cap="none" dirty="0">
                <a:solidFill>
                  <a:schemeClr val="tx1"/>
                </a:solidFill>
              </a:rPr>
              <a:t> </a:t>
            </a:r>
            <a:endParaRPr lang="en-US" sz="2300" cap="none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" name="Picture 2" descr="Google Scholar Logo PNG Vector (AI, PDF ...">
            <a:hlinkClick r:id="rId4"/>
            <a:extLst>
              <a:ext uri="{FF2B5EF4-FFF2-40B4-BE49-F238E27FC236}">
                <a16:creationId xmlns:a16="http://schemas.microsoft.com/office/drawing/2014/main" id="{344270E6-900A-ECC5-70F8-9779BC90F1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1587" y="3490603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8EEF3-BAF9-3363-7CAE-476D516AE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DC0F2-2ED6-9CFB-DE25-415A2DAC6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Software engineering?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C5F9D-97A7-3ABA-651D-45BB16B88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436" y="2063932"/>
            <a:ext cx="10953310" cy="4310742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latin typeface="+mj-lt"/>
              </a:rPr>
              <a:t>Technologies that make it easier, faster, and less expensive to build high-quality computer programs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latin typeface="+mj-lt"/>
              </a:rPr>
              <a:t>A discipline aiming at producing fault-free software, delivered on time and within budget, that satisfies the users’ needs.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defRPr/>
            </a:pPr>
            <a:endParaRPr lang="en-US" altLang="zh-TW" sz="2200" dirty="0">
              <a:latin typeface="+mj-lt"/>
            </a:endParaRP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An engineering:  </a:t>
            </a:r>
            <a:r>
              <a:rPr lang="en-US" altLang="zh-TW" sz="2200" dirty="0">
                <a:latin typeface="+mj-lt"/>
              </a:rPr>
              <a:t>A set of activities in software production 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latin typeface="+mj-lt"/>
              </a:rPr>
              <a:t>The philosophy of established engineering disciplines to solve what are termed software crisis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endParaRPr lang="en-US" altLang="zh-TW" sz="2200" dirty="0">
              <a:latin typeface="+mj-lt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F69B8F5-4CB5-7998-D2D4-ED83013D3973}"/>
              </a:ext>
            </a:extLst>
          </p:cNvPr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- 2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11A590-4A62-E828-3EFD-C053B34D4D04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1641042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Scope of software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57550"/>
            <a:ext cx="10652865" cy="327347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ko-KR" sz="2000" dirty="0">
                <a:latin typeface="+mj-lt"/>
                <a:ea typeface="굴림" pitchFamily="34" charset="-127"/>
              </a:rPr>
              <a:t>The aim of Software Engineering is to solve Software Crisis: 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ko-KR" sz="2000" dirty="0">
                <a:solidFill>
                  <a:srgbClr val="FF0000"/>
                </a:solidFill>
                <a:latin typeface="+mj-lt"/>
                <a:ea typeface="굴림" pitchFamily="34" charset="-127"/>
              </a:rPr>
              <a:t>Late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ko-KR" sz="2000" dirty="0">
                <a:solidFill>
                  <a:srgbClr val="FF0000"/>
                </a:solidFill>
                <a:latin typeface="+mj-lt"/>
                <a:ea typeface="굴림" pitchFamily="34" charset="-127"/>
              </a:rPr>
              <a:t>Over budget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ko-KR" sz="2000" dirty="0">
                <a:solidFill>
                  <a:srgbClr val="FF0000"/>
                </a:solidFill>
                <a:latin typeface="+mj-lt"/>
                <a:ea typeface="굴림" pitchFamily="34" charset="-127"/>
              </a:rPr>
              <a:t>Low quality with lots of faults</a:t>
            </a:r>
          </a:p>
          <a:p>
            <a:pPr lvl="1">
              <a:buFont typeface="Wingdings" pitchFamily="2" charset="2"/>
              <a:buChar char="§"/>
            </a:pPr>
            <a:endParaRPr lang="en-US" altLang="ko-KR" sz="2000" dirty="0">
              <a:solidFill>
                <a:srgbClr val="FF0000"/>
              </a:solidFill>
              <a:latin typeface="+mj-lt"/>
              <a:ea typeface="굴림" pitchFamily="34" charset="-127"/>
            </a:endParaRPr>
          </a:p>
          <a:p>
            <a:pPr lvl="1">
              <a:buFont typeface="Wingdings" pitchFamily="2" charset="2"/>
              <a:buChar char="§"/>
            </a:pPr>
            <a:endParaRPr lang="en-US" altLang="ko-KR" sz="2000" dirty="0">
              <a:solidFill>
                <a:srgbClr val="FF0000"/>
              </a:solidFill>
              <a:latin typeface="+mj-lt"/>
              <a:ea typeface="굴림" pitchFamily="34" charset="-127"/>
            </a:endParaRPr>
          </a:p>
          <a:p>
            <a:pPr>
              <a:buFont typeface="Wingdings" pitchFamily="2" charset="2"/>
              <a:buChar char="q"/>
            </a:pPr>
            <a:r>
              <a:rPr lang="en-US" altLang="ko-KR" sz="2000" dirty="0">
                <a:latin typeface="+mj-lt"/>
                <a:ea typeface="굴림" pitchFamily="34" charset="-127"/>
              </a:rPr>
              <a:t>Software crisis is still present over 35 years later!</a:t>
            </a:r>
            <a:endParaRPr lang="en-US" altLang="zh-TW" sz="2000" dirty="0">
              <a:latin typeface="+mj-lt"/>
              <a:ea typeface="PMingLiU" pitchFamily="18" charset="-120"/>
            </a:endParaRPr>
          </a:p>
        </p:txBody>
      </p:sp>
      <p:sp>
        <p:nvSpPr>
          <p:cNvPr id="9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3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7933A36-B0B5-9997-56BC-6D0BBA0D031E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070" y="1928753"/>
            <a:ext cx="11186738" cy="4298315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A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logical</a:t>
            </a:r>
            <a:r>
              <a:rPr lang="en-US" altLang="zh-TW" sz="2200" dirty="0">
                <a:latin typeface="+mj-lt"/>
              </a:rPr>
              <a:t> (intangible) rather than a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physical</a:t>
            </a:r>
            <a:r>
              <a:rPr lang="en-US" altLang="zh-TW" sz="2200" dirty="0">
                <a:latin typeface="+mj-lt"/>
              </a:rPr>
              <a:t> system element 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Being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developed or engineered</a:t>
            </a:r>
            <a:r>
              <a:rPr lang="en-US" altLang="zh-TW" sz="2200" dirty="0">
                <a:latin typeface="+mj-lt"/>
              </a:rPr>
              <a:t> but not being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manufactured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Software cost concentrating in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engineering</a:t>
            </a:r>
            <a:r>
              <a:rPr lang="en-US" altLang="zh-TW" sz="2200" dirty="0">
                <a:latin typeface="+mj-lt"/>
              </a:rPr>
              <a:t>, not in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materials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Software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does not “wearing out”</a:t>
            </a:r>
            <a:r>
              <a:rPr lang="en-US" altLang="zh-TW" sz="2200" dirty="0">
                <a:latin typeface="+mj-lt"/>
              </a:rPr>
              <a:t> but “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deteriorating</a:t>
            </a:r>
            <a:r>
              <a:rPr lang="en-US" altLang="zh-TW" sz="2200" dirty="0">
                <a:latin typeface="+mj-lt"/>
              </a:rPr>
              <a:t>”(not destroyed after lifetime like hardware, but backdated by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aging </a:t>
            </a:r>
            <a:r>
              <a:rPr lang="en-US" altLang="zh-TW" sz="2200" dirty="0">
                <a:latin typeface="+mj-lt"/>
              </a:rPr>
              <a:t>that needs to update)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ea typeface="PMingLiU" pitchFamily="18" charset="-120"/>
              </a:rPr>
              <a:t>Software is a ‘</a:t>
            </a:r>
            <a:r>
              <a:rPr lang="en-US" altLang="zh-TW" sz="2200" dirty="0">
                <a:solidFill>
                  <a:srgbClr val="00B050"/>
                </a:solidFill>
                <a:ea typeface="PMingLiU" pitchFamily="18" charset="-120"/>
              </a:rPr>
              <a:t>differentiator</a:t>
            </a:r>
            <a:r>
              <a:rPr lang="en-US" altLang="zh-TW" sz="2200" dirty="0">
                <a:ea typeface="PMingLiU" pitchFamily="18" charset="-120"/>
              </a:rPr>
              <a:t>’ (different sub-systems, e.g. </a:t>
            </a:r>
            <a:r>
              <a:rPr lang="en-GB" sz="2200" dirty="0">
                <a:solidFill>
                  <a:srgbClr val="0070C0"/>
                </a:solidFill>
              </a:rPr>
              <a:t>cashier’s workstation in a supermarket</a:t>
            </a:r>
            <a:r>
              <a:rPr lang="en-US" altLang="zh-TW" sz="2200" dirty="0">
                <a:ea typeface="PMingLiU" pitchFamily="18" charset="-120"/>
              </a:rPr>
              <a:t>)</a:t>
            </a:r>
            <a:endParaRPr lang="en-US" altLang="zh-TW" sz="2200" dirty="0">
              <a:latin typeface="+mj-lt"/>
            </a:endParaRP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Without “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spare parts</a:t>
            </a:r>
            <a:r>
              <a:rPr lang="en-US" altLang="zh-TW" sz="2200" dirty="0">
                <a:latin typeface="+mj-lt"/>
              </a:rPr>
              <a:t>” in software maintenance (no extra useless features in software)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Most software continues to be custom-built (based on the requirements)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4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761616C-BB6C-0C2A-8ED0-3C10F599C6DD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development life cycle (SDLC)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947" y="2024743"/>
            <a:ext cx="10652865" cy="4193177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q"/>
              <a:tabLst>
                <a:tab pos="1260475" algn="l"/>
              </a:tabLst>
            </a:pPr>
            <a:r>
              <a:rPr lang="en-GB" sz="2000" dirty="0">
                <a:latin typeface="+mj-lt"/>
              </a:rPr>
              <a:t>A structured set of activities required to develop a software system</a:t>
            </a:r>
            <a:endParaRPr lang="en-US" sz="20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The way we produce software, including:</a:t>
            </a:r>
            <a:br>
              <a:rPr lang="en-US" altLang="zh-TW" sz="2000" dirty="0">
                <a:latin typeface="+mj-lt"/>
                <a:ea typeface="PMingLiU" pitchFamily="18" charset="-120"/>
              </a:rPr>
            </a:br>
            <a:endParaRPr lang="en-US" altLang="zh-TW" sz="2000" dirty="0">
              <a:latin typeface="+mj-lt"/>
              <a:ea typeface="PMingLiU" pitchFamily="18" charset="-120"/>
            </a:endParaRP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Planning 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Requirements Analysis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Design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Development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Testing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Final release / Deployment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Maintenance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5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BC0F1A-8886-94B9-3267-48CF1CC23CFD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B923D-EB03-790F-A064-D7DDBF944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Software development life cycle (SDLC)</a:t>
            </a:r>
            <a:endParaRPr lang="en-US" sz="3200" b="1" dirty="0"/>
          </a:p>
        </p:txBody>
      </p:sp>
      <p:pic>
        <p:nvPicPr>
          <p:cNvPr id="6" name="Content Placeholder 5" descr="A circular chart with text&#10;&#10;AI-generated content may be incorrect.">
            <a:extLst>
              <a:ext uri="{FF2B5EF4-FFF2-40B4-BE49-F238E27FC236}">
                <a16:creationId xmlns:a16="http://schemas.microsoft.com/office/drawing/2014/main" id="{0FBC46FD-FB6C-4C71-9FB7-1D80575209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2288" y="1832817"/>
            <a:ext cx="4807424" cy="502518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01CA5-6A70-2EED-5DD8-4AE08FA87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1A4ACF4-C431-6144-17A3-68B42B5E7210}"/>
              </a:ext>
            </a:extLst>
          </p:cNvPr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- 6</a:t>
            </a:r>
          </a:p>
        </p:txBody>
      </p:sp>
    </p:spTree>
    <p:extLst>
      <p:ext uri="{BB962C8B-B14F-4D97-AF65-F5344CB8AC3E}">
        <p14:creationId xmlns:p14="http://schemas.microsoft.com/office/powerpoint/2010/main" val="2046043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&amp; bad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933303"/>
            <a:ext cx="10652865" cy="454587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  <a:ea typeface="PMingLiU" pitchFamily="18" charset="-120"/>
              </a:rPr>
              <a:t>Good software is maintained—bad software is discarded</a:t>
            </a:r>
            <a:br>
              <a:rPr lang="en-US" altLang="zh-TW" sz="2200" dirty="0">
                <a:latin typeface="+mj-lt"/>
                <a:ea typeface="PMingLiU" pitchFamily="18" charset="-120"/>
              </a:rPr>
            </a:br>
            <a:endParaRPr lang="en-US" altLang="zh-TW" sz="22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  <a:ea typeface="PMingLiU" pitchFamily="18" charset="-120"/>
              </a:rPr>
              <a:t> Different types of maintenance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  Corrective maintenance </a:t>
            </a:r>
            <a:r>
              <a:rPr lang="en-US" altLang="zh-TW" sz="2200" dirty="0">
                <a:solidFill>
                  <a:srgbClr val="002060"/>
                </a:solidFill>
                <a:ea typeface="PMingLiU" pitchFamily="18" charset="-120"/>
              </a:rPr>
              <a:t>[about 20%]</a:t>
            </a:r>
            <a:endParaRPr lang="en-US" altLang="zh-TW" sz="2200" dirty="0">
              <a:solidFill>
                <a:srgbClr val="002060"/>
              </a:solidFill>
              <a:latin typeface="+mj-lt"/>
              <a:ea typeface="PMingLiU" pitchFamily="18" charset="-120"/>
            </a:endParaRP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Modification to fix a problem</a:t>
            </a:r>
            <a:endParaRPr lang="en-US" altLang="zh-TW" sz="2200" dirty="0">
              <a:solidFill>
                <a:srgbClr val="002060"/>
              </a:solidFill>
              <a:latin typeface="+mj-lt"/>
              <a:ea typeface="PMingLiU" pitchFamily="18" charset="-120"/>
            </a:endParaRP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  Enhancement </a:t>
            </a:r>
            <a:r>
              <a:rPr lang="en-US" altLang="zh-TW" sz="2200" dirty="0">
                <a:solidFill>
                  <a:srgbClr val="002060"/>
                </a:solidFill>
                <a:ea typeface="PMingLiU" pitchFamily="18" charset="-120"/>
              </a:rPr>
              <a:t>[about 80%]</a:t>
            </a:r>
            <a:endParaRPr lang="en-US" altLang="zh-TW" sz="2200" dirty="0">
              <a:solidFill>
                <a:srgbClr val="002060"/>
              </a:solidFill>
              <a:latin typeface="+mj-lt"/>
              <a:ea typeface="PMingLiU" pitchFamily="18" charset="-120"/>
            </a:endParaRP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latin typeface="+mj-lt"/>
                <a:ea typeface="PMingLiU" pitchFamily="18" charset="-120"/>
              </a:rPr>
              <a:t>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Perfective maintenance (modification to improve usability,…) </a:t>
            </a: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[about 60%]</a:t>
            </a: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Adaptive maintenance (modification to keep up-to-date) </a:t>
            </a: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[about 20%]</a:t>
            </a: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Preventive maintenance (modification to avoid any future error) </a:t>
            </a:r>
            <a:r>
              <a:rPr lang="en-US" altLang="zh-TW" sz="2200" dirty="0">
                <a:solidFill>
                  <a:srgbClr val="002060"/>
                </a:solidFill>
                <a:ea typeface="PMingLiU" pitchFamily="18" charset="-120"/>
              </a:rPr>
              <a:t>[about 20%]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- 7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43F4437-BB4E-D0B6-96B1-1E9871A28BF5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Cost of detection &amp; correction of a fault</a:t>
            </a:r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1038496" y="2022566"/>
          <a:ext cx="10182497" cy="458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4809524" imgH="3734321" progId="">
                  <p:embed/>
                </p:oleObj>
              </mc:Choice>
              <mc:Fallback>
                <p:oleObj name="Photo Editor Photo" r:id="rId2" imgW="4809524" imgH="3734321" progId="">
                  <p:embed/>
                  <p:pic>
                    <p:nvPicPr>
                      <p:cNvPr id="102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8496" y="2022566"/>
                        <a:ext cx="10182497" cy="45872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9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A1A92BF-C439-B5DA-6DA8-60F0A561BFD3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2436" y="2103121"/>
            <a:ext cx="10953310" cy="4310742"/>
          </a:xfrm>
        </p:spPr>
        <p:txBody>
          <a:bodyPr>
            <a:normAutofit/>
          </a:bodyPr>
          <a:lstStyle/>
          <a:p>
            <a:r>
              <a:rPr lang="en-US" altLang="zh-TW" sz="2200" dirty="0">
                <a:solidFill>
                  <a:srgbClr val="C00000"/>
                </a:solidFill>
                <a:latin typeface="Bell MT" pitchFamily="18" charset="0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System software </a:t>
            </a:r>
            <a:r>
              <a:rPr lang="en-US" altLang="zh-TW" sz="2200" dirty="0">
                <a:latin typeface="+mj-lt"/>
              </a:rPr>
              <a:t>(control computer hardware such as OS)</a:t>
            </a:r>
          </a:p>
          <a:p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   Business software</a:t>
            </a:r>
            <a:r>
              <a:rPr lang="en-US" altLang="zh-TW" sz="2200" dirty="0">
                <a:latin typeface="+mj-lt"/>
              </a:rPr>
              <a:t> (commercial application for business users [SAP, ERP])</a:t>
            </a:r>
          </a:p>
          <a:p>
            <a:pPr lvl="8"/>
            <a:r>
              <a:rPr lang="en-US" altLang="zh-TW" sz="1600" dirty="0">
                <a:latin typeface="+mj-lt"/>
              </a:rPr>
              <a:t>Systems, Applications, and Products</a:t>
            </a:r>
          </a:p>
          <a:p>
            <a:pPr lvl="8"/>
            <a:r>
              <a:rPr lang="en-US" altLang="zh-TW" sz="1600" dirty="0">
                <a:latin typeface="+mj-lt"/>
              </a:rPr>
              <a:t>Enterprise Resource Planning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Engineering and scientific software </a:t>
            </a:r>
            <a:r>
              <a:rPr lang="en-US" altLang="zh-TW" sz="2200" dirty="0">
                <a:latin typeface="+mj-lt"/>
              </a:rPr>
              <a:t>(e.g. statistical analysis-SPSS, </a:t>
            </a:r>
            <a:r>
              <a:rPr lang="en-US" altLang="zh-TW" sz="2200" dirty="0" err="1">
                <a:latin typeface="+mj-lt"/>
              </a:rPr>
              <a:t>Matlab</a:t>
            </a:r>
            <a:r>
              <a:rPr lang="en-US" altLang="zh-TW" sz="2200" dirty="0">
                <a:latin typeface="+mj-lt"/>
              </a:rPr>
              <a:t>)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Embedded software </a:t>
            </a:r>
            <a:r>
              <a:rPr lang="en-US" altLang="zh-TW" sz="2200" dirty="0">
                <a:latin typeface="+mj-lt"/>
              </a:rPr>
              <a:t>(e.g. biometric device)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Personal computer software </a:t>
            </a:r>
            <a:r>
              <a:rPr lang="en-US" altLang="zh-TW" sz="2200" dirty="0">
                <a:latin typeface="+mj-lt"/>
              </a:rPr>
              <a:t>(e.g. Microsoft Office)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Web-based software </a:t>
            </a:r>
            <a:r>
              <a:rPr lang="en-US" altLang="zh-TW" sz="2200" dirty="0">
                <a:latin typeface="+mj-lt"/>
              </a:rPr>
              <a:t>(use over the internet with a browser, e.g. Gmail) 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Artificial intelligence software </a:t>
            </a:r>
            <a:r>
              <a:rPr lang="en-US" altLang="zh-TW" sz="2200" dirty="0">
                <a:latin typeface="+mj-lt"/>
              </a:rPr>
              <a:t>(e.g. HCI, Google AI)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- 10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6A708E2-E46B-4881-38E6-B24187D0FB1B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Myths (management)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4074" y="2129246"/>
            <a:ext cx="10953310" cy="420624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</a:rPr>
              <a:t>Myth 1:</a:t>
            </a:r>
            <a:r>
              <a:rPr lang="en-US" altLang="zh-TW" sz="2200" i="1" dirty="0"/>
              <a:t> </a:t>
            </a:r>
            <a:r>
              <a:rPr lang="en-US" altLang="zh-TW" sz="2200" dirty="0">
                <a:latin typeface="+mj-lt"/>
              </a:rPr>
              <a:t>We already have a book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full of standards and procedures </a:t>
            </a:r>
            <a:r>
              <a:rPr lang="en-US" altLang="zh-TW" sz="2200" dirty="0">
                <a:latin typeface="+mj-lt"/>
              </a:rPr>
              <a:t>for building software. Wouldn’t that provide my people with everything they need to know?</a:t>
            </a:r>
          </a:p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2</a:t>
            </a:r>
            <a:r>
              <a:rPr lang="en-US" altLang="zh-TW" sz="2200" dirty="0">
                <a:solidFill>
                  <a:srgbClr val="FF0000"/>
                </a:solidFill>
              </a:rPr>
              <a:t>:</a:t>
            </a:r>
            <a:r>
              <a:rPr lang="en-US" altLang="zh-TW" sz="2200" dirty="0">
                <a:latin typeface="+mj-lt"/>
              </a:rPr>
              <a:t> My people have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state-of-the-art software development tools; </a:t>
            </a:r>
            <a:r>
              <a:rPr lang="en-US" altLang="zh-TW" sz="2200" dirty="0">
                <a:latin typeface="+mj-lt"/>
              </a:rPr>
              <a:t>we buy them the newest computers.</a:t>
            </a:r>
            <a:br>
              <a:rPr lang="en-US" altLang="zh-TW" sz="2200" dirty="0">
                <a:latin typeface="+mj-lt"/>
              </a:rPr>
            </a:br>
            <a:endParaRPr lang="zh-TW" altLang="en-US" sz="2200" dirty="0">
              <a:latin typeface="+mj-lt"/>
            </a:endParaRPr>
          </a:p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3</a:t>
            </a:r>
            <a:r>
              <a:rPr lang="en-US" altLang="zh-TW" sz="2200" dirty="0">
                <a:solidFill>
                  <a:srgbClr val="FF0000"/>
                </a:solidFill>
              </a:rPr>
              <a:t>: </a:t>
            </a:r>
            <a:r>
              <a:rPr lang="en-US" altLang="zh-TW" sz="2200" dirty="0">
                <a:latin typeface="+mj-lt"/>
              </a:rPr>
              <a:t>If we get behind schedule, we can add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more programmers </a:t>
            </a:r>
            <a:r>
              <a:rPr lang="en-US" altLang="zh-TW" sz="2200" dirty="0">
                <a:latin typeface="+mj-lt"/>
              </a:rPr>
              <a:t>and catch up.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4</a:t>
            </a:r>
            <a:r>
              <a:rPr lang="en-US" altLang="zh-TW" sz="2200" dirty="0">
                <a:solidFill>
                  <a:srgbClr val="FF0000"/>
                </a:solidFill>
              </a:rPr>
              <a:t>:</a:t>
            </a:r>
            <a:r>
              <a:rPr lang="en-US" altLang="zh-TW" sz="2200" i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altLang="zh-TW" sz="2200" dirty="0">
                <a:latin typeface="+mj-lt"/>
              </a:rPr>
              <a:t>If I outsource the software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project to a third party, </a:t>
            </a:r>
            <a:r>
              <a:rPr lang="en-US" altLang="zh-TW" sz="2200" dirty="0">
                <a:latin typeface="+mj-lt"/>
              </a:rPr>
              <a:t>I can relax and let that firm build it.</a:t>
            </a:r>
          </a:p>
          <a:p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- 11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86BA8D7-B2BF-878A-7F0C-E10F2B006CC1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Myths </a:t>
            </a:r>
            <a:r>
              <a:rPr lang="en-GB"/>
              <a:t>(client)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4074" y="2129246"/>
            <a:ext cx="10953310" cy="3004457"/>
          </a:xfrm>
        </p:spPr>
        <p:txBody>
          <a:bodyPr>
            <a:normAutofit/>
          </a:bodyPr>
          <a:lstStyle/>
          <a:p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1: </a:t>
            </a:r>
            <a:r>
              <a:rPr lang="en-US" altLang="zh-TW" sz="2200" dirty="0">
                <a:latin typeface="+mj-lt"/>
              </a:rPr>
              <a:t>A </a:t>
            </a:r>
            <a:r>
              <a:rPr lang="en-US" altLang="zh-TW" sz="2200" dirty="0">
                <a:solidFill>
                  <a:srgbClr val="7030A0"/>
                </a:solidFill>
                <a:latin typeface="+mj-lt"/>
              </a:rPr>
              <a:t>general statement </a:t>
            </a:r>
            <a:r>
              <a:rPr lang="en-US" altLang="zh-TW" sz="2200" dirty="0">
                <a:latin typeface="+mj-lt"/>
              </a:rPr>
              <a:t>of objectives is sufficient to begin writing programs – we can fill in the details later.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2:</a:t>
            </a:r>
            <a:r>
              <a:rPr lang="en-US" altLang="zh-TW" sz="2200" dirty="0">
                <a:latin typeface="+mj-lt"/>
              </a:rPr>
              <a:t> Project requirements continually change, but </a:t>
            </a:r>
            <a:r>
              <a:rPr lang="en-US" altLang="zh-TW" sz="2200" dirty="0">
                <a:solidFill>
                  <a:srgbClr val="7030A0"/>
                </a:solidFill>
                <a:latin typeface="+mj-lt"/>
              </a:rPr>
              <a:t>change can be easily accommodated </a:t>
            </a:r>
            <a:r>
              <a:rPr lang="en-US" altLang="zh-TW" sz="2200" dirty="0">
                <a:latin typeface="+mj-lt"/>
              </a:rPr>
              <a:t>because software is flexible.</a:t>
            </a:r>
          </a:p>
          <a:p>
            <a:pPr>
              <a:defRPr/>
            </a:pP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- 12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DC9FB57-00F2-D2E7-4EC6-9EE8E146CDE7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Myths (professional)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420623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1:</a:t>
            </a:r>
            <a:r>
              <a:rPr lang="en-US" altLang="zh-TW" sz="2200" dirty="0">
                <a:latin typeface="+mj-lt"/>
              </a:rPr>
              <a:t> Our job is done once we write the program and get it to work.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 lvl="1">
              <a:lnSpc>
                <a:spcPct val="90000"/>
              </a:lnSpc>
              <a:buNone/>
            </a:pPr>
            <a:r>
              <a:rPr lang="en-US" altLang="zh-TW" sz="2200" i="1" dirty="0">
                <a:latin typeface="+mj-lt"/>
              </a:rPr>
              <a:t>Fact: </a:t>
            </a:r>
            <a:r>
              <a:rPr lang="en-US" altLang="zh-TW" sz="2200" i="1" dirty="0">
                <a:solidFill>
                  <a:srgbClr val="FF0000"/>
                </a:solidFill>
                <a:latin typeface="+mj-lt"/>
              </a:rPr>
              <a:t>the sooner you begin writing code, the longer it will take you to get done.</a:t>
            </a:r>
            <a:br>
              <a:rPr lang="en-US" altLang="zh-TW" sz="2200" i="1" dirty="0">
                <a:solidFill>
                  <a:srgbClr val="FF0000"/>
                </a:solidFill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2: </a:t>
            </a:r>
            <a:r>
              <a:rPr lang="en-US" altLang="zh-TW" sz="2200" dirty="0">
                <a:latin typeface="+mj-lt"/>
              </a:rPr>
              <a:t>I cannot assess the program's quality until it is “running. "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3:</a:t>
            </a:r>
            <a:r>
              <a:rPr lang="en-US" altLang="zh-TW" sz="2200" dirty="0">
                <a:latin typeface="+mj-lt"/>
              </a:rPr>
              <a:t> The working program is the only deliverable work product for a successful project.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4:</a:t>
            </a:r>
            <a:r>
              <a:rPr lang="en-US" altLang="zh-TW" sz="2200" i="1" dirty="0">
                <a:latin typeface="+mj-lt"/>
              </a:rPr>
              <a:t> </a:t>
            </a:r>
            <a:r>
              <a:rPr lang="en-US" altLang="zh-TW" sz="2200" dirty="0">
                <a:latin typeface="+mj-lt"/>
              </a:rPr>
              <a:t>Software engineering will make us </a:t>
            </a:r>
            <a:r>
              <a:rPr lang="en-US" altLang="zh-TW" sz="2200">
                <a:latin typeface="+mj-lt"/>
              </a:rPr>
              <a:t>create very large </a:t>
            </a:r>
            <a:r>
              <a:rPr lang="en-US" altLang="zh-TW" sz="2200" dirty="0">
                <a:latin typeface="+mj-lt"/>
              </a:rPr>
              <a:t>and unnecessary documentation, invariably slowing us down.</a:t>
            </a:r>
            <a:endParaRPr lang="zh-TW" altLang="en-US" sz="2200" dirty="0">
              <a:latin typeface="+mj-lt"/>
            </a:endParaRPr>
          </a:p>
          <a:p>
            <a:pPr>
              <a:defRPr/>
            </a:pP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- 13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DEC8BA-A092-BA65-E675-604AB01E18B5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system fails?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9631" y="2131518"/>
            <a:ext cx="11051177" cy="3474719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GB" altLang="en-US" sz="2000" dirty="0">
                <a:latin typeface="+mj-lt"/>
              </a:rPr>
              <a:t>The system fails to meet the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business requirements </a:t>
            </a:r>
            <a:r>
              <a:rPr lang="en-GB" altLang="en-US" sz="2000" dirty="0">
                <a:latin typeface="+mj-lt"/>
              </a:rPr>
              <a:t>for which it was developed. The system is either </a:t>
            </a:r>
            <a:r>
              <a:rPr lang="en-GB" altLang="en-US" sz="2000" dirty="0">
                <a:solidFill>
                  <a:srgbClr val="7030A0"/>
                </a:solidFill>
                <a:latin typeface="+mj-lt"/>
              </a:rPr>
              <a:t>abandoned</a:t>
            </a:r>
            <a:r>
              <a:rPr lang="en-GB" altLang="en-US" sz="2000" dirty="0">
                <a:latin typeface="+mj-lt"/>
              </a:rPr>
              <a:t> or </a:t>
            </a:r>
            <a:r>
              <a:rPr lang="en-GB" altLang="en-US" sz="2000" dirty="0">
                <a:solidFill>
                  <a:srgbClr val="7030A0"/>
                </a:solidFill>
                <a:latin typeface="+mj-lt"/>
              </a:rPr>
              <a:t>expensive adaptive maintenance </a:t>
            </a:r>
            <a:r>
              <a:rPr lang="en-GB" altLang="en-US" sz="2000" dirty="0">
                <a:latin typeface="+mj-lt"/>
              </a:rPr>
              <a:t>is undertaken.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>
                <a:latin typeface="+mj-lt"/>
              </a:rPr>
              <a:t>There are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performance shortcomings </a:t>
            </a:r>
            <a:r>
              <a:rPr lang="en-GB" altLang="en-US" sz="2000" dirty="0">
                <a:latin typeface="+mj-lt"/>
              </a:rPr>
              <a:t>in the system, which make it inadequate for the users’ needs. Again, it is either abandoned or amended incurring extra costs.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Errors</a:t>
            </a:r>
            <a:r>
              <a:rPr lang="en-GB" altLang="en-US" sz="2000" dirty="0">
                <a:latin typeface="+mj-lt"/>
              </a:rPr>
              <a:t> appear in the developed system causing unexpected problems.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Patches </a:t>
            </a:r>
            <a:r>
              <a:rPr lang="en-GB" altLang="en-US" sz="2000" dirty="0">
                <a:latin typeface="+mj-lt"/>
              </a:rPr>
              <a:t>have to be applied at extra cost.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Users reject </a:t>
            </a:r>
            <a:r>
              <a:rPr lang="en-GB" altLang="en-US" sz="2000" dirty="0">
                <a:latin typeface="+mj-lt"/>
              </a:rPr>
              <a:t>the implemented system, lack of involvement in its development or lack of commitment to it.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>
                <a:latin typeface="+mj-lt"/>
              </a:rPr>
              <a:t>Systems are initially accepted but over time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become un-maintainable </a:t>
            </a:r>
            <a:r>
              <a:rPr lang="en-GB" altLang="en-US" sz="2000" dirty="0">
                <a:latin typeface="+mj-lt"/>
              </a:rPr>
              <a:t>and so pass into disuse.</a:t>
            </a:r>
            <a:endParaRPr lang="en-GB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42047" cy="774419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2980895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 dirty="0">
                <a:ea typeface="ＭＳ Ｐゴシック" pitchFamily="34" charset="-128"/>
              </a:rPr>
              <a:t>R.S. Pressman &amp; Associates, Inc. (2010). </a:t>
            </a:r>
            <a:r>
              <a:rPr lang="en-US" sz="2000" i="1" dirty="0">
                <a:ea typeface="ＭＳ Ｐゴシック" pitchFamily="34" charset="-128"/>
              </a:rPr>
              <a:t>Software Engineering: A Practitioner’s Approach.</a:t>
            </a:r>
          </a:p>
          <a:p>
            <a:pPr>
              <a:defRPr/>
            </a:pPr>
            <a:r>
              <a:rPr lang="en-US" sz="2000" dirty="0"/>
              <a:t>Kelly, J. C., </a:t>
            </a:r>
            <a:r>
              <a:rPr lang="en-US" sz="2000" dirty="0" err="1"/>
              <a:t>Sherif</a:t>
            </a:r>
            <a:r>
              <a:rPr lang="en-US" sz="2000" dirty="0"/>
              <a:t>, J. S., &amp; Hops, J. (1992). An analysis of defect densities found during software inspections. </a:t>
            </a:r>
            <a:r>
              <a:rPr lang="en-US" sz="2000" i="1" dirty="0"/>
              <a:t>Journal of Systems and Software</a:t>
            </a:r>
            <a:r>
              <a:rPr lang="en-US" sz="2000" dirty="0"/>
              <a:t>, </a:t>
            </a:r>
            <a:r>
              <a:rPr lang="en-US" sz="2000" i="1" dirty="0"/>
              <a:t>17</a:t>
            </a:r>
            <a:r>
              <a:rPr lang="en-US" sz="2000" dirty="0"/>
              <a:t>(2), 111-117.</a:t>
            </a:r>
          </a:p>
          <a:p>
            <a:pPr>
              <a:defRPr/>
            </a:pPr>
            <a:r>
              <a:rPr lang="en-US" sz="2000" dirty="0"/>
              <a:t>Bhandari, I., Halliday, M. J., </a:t>
            </a:r>
            <a:r>
              <a:rPr lang="en-US" sz="2000" dirty="0" err="1"/>
              <a:t>Chaar</a:t>
            </a:r>
            <a:r>
              <a:rPr lang="en-US" sz="2000" dirty="0"/>
              <a:t>, J., </a:t>
            </a:r>
            <a:r>
              <a:rPr lang="en-US" sz="2000" dirty="0" err="1"/>
              <a:t>Chillarege</a:t>
            </a:r>
            <a:r>
              <a:rPr lang="en-US" sz="2000" dirty="0"/>
              <a:t>, R., Jones, K., Atkinson, J. S., &amp; </a:t>
            </a:r>
            <a:r>
              <a:rPr lang="en-US" sz="2000" dirty="0" err="1"/>
              <a:t>Yonezawa</a:t>
            </a:r>
            <a:r>
              <a:rPr lang="en-US" sz="2000" dirty="0"/>
              <a:t>, M. (1994).</a:t>
            </a:r>
            <a:br>
              <a:rPr lang="en-US" sz="2000" dirty="0"/>
            </a:br>
            <a:r>
              <a:rPr lang="en-US" sz="2000" dirty="0"/>
              <a:t>In-process improvement through defect data interpretation. </a:t>
            </a:r>
            <a:r>
              <a:rPr lang="en-US" sz="2000" i="1" dirty="0"/>
              <a:t>IBM Systems Journal</a:t>
            </a:r>
            <a:r>
              <a:rPr lang="en-US" sz="2000" dirty="0"/>
              <a:t>, </a:t>
            </a:r>
            <a:r>
              <a:rPr lang="en-US" sz="2000" i="1" dirty="0"/>
              <a:t>33</a:t>
            </a:r>
            <a:r>
              <a:rPr lang="en-US" sz="2000" dirty="0"/>
              <a:t>(1), 182-214.</a:t>
            </a:r>
            <a:endParaRPr lang="en-US" sz="2000" dirty="0">
              <a:ea typeface="ＭＳ Ｐゴシック" pitchFamily="34" charset="-128"/>
            </a:endParaRPr>
          </a:p>
          <a:p>
            <a:pPr>
              <a:defRPr/>
            </a:pPr>
            <a:endParaRPr lang="en-US" altLang="zh-TW" sz="20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- 15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312C3B-B9B9-5739-8FF4-272BFD29E158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640392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1004</Words>
  <Application>Microsoft Office PowerPoint</Application>
  <PresentationFormat>Widescreen</PresentationFormat>
  <Paragraphs>115</Paragraphs>
  <Slides>14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ＭＳ Ｐゴシック</vt:lpstr>
      <vt:lpstr>PMingLiU</vt:lpstr>
      <vt:lpstr>Bell MT</vt:lpstr>
      <vt:lpstr>Calibri</vt:lpstr>
      <vt:lpstr>Gill Sans MT</vt:lpstr>
      <vt:lpstr>Wingdings</vt:lpstr>
      <vt:lpstr>Wingdings 2</vt:lpstr>
      <vt:lpstr>Dividend</vt:lpstr>
      <vt:lpstr>Photo Editor Photo</vt:lpstr>
      <vt:lpstr>PowerPoint Presentation</vt:lpstr>
      <vt:lpstr>what is Software engineering?</vt:lpstr>
      <vt:lpstr>Scope of software Engineering</vt:lpstr>
      <vt:lpstr>Software characteristics</vt:lpstr>
      <vt:lpstr>Software development life cycle (SDLC)</vt:lpstr>
      <vt:lpstr>Software development life cycle (SDLC)</vt:lpstr>
      <vt:lpstr>Good &amp; bad software</vt:lpstr>
      <vt:lpstr>Cost of detection &amp; correction of a fault</vt:lpstr>
      <vt:lpstr>Software application</vt:lpstr>
      <vt:lpstr>Software Myths (management)</vt:lpstr>
      <vt:lpstr>Software Myths (client)</vt:lpstr>
      <vt:lpstr>Software Myths (professional)</vt:lpstr>
      <vt:lpstr>Why system fails?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Ch.01 - Software and Software Engineering</dc:title>
  <dc:subject>Software Engineering</dc:subject>
  <dc:creator>M. Mahmudul Hasan</dc:creator>
  <cp:lastModifiedBy>Jubayer Ahamed</cp:lastModifiedBy>
  <cp:revision>52</cp:revision>
  <dcterms:created xsi:type="dcterms:W3CDTF">2019-05-13T08:37:20Z</dcterms:created>
  <dcterms:modified xsi:type="dcterms:W3CDTF">2026-06-18T11:10:23Z</dcterms:modified>
</cp:coreProperties>
</file>